
<file path=[Content_Types].xml><?xml version="1.0" encoding="utf-8"?>
<Types xmlns="http://schemas.openxmlformats.org/package/2006/content-types">
  <Default Extension="bin" ContentType="application/vnd.openxmlformats-officedocument.oleObject"/>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1.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653" r:id="rId2"/>
  </p:sldMasterIdLst>
  <p:notesMasterIdLst>
    <p:notesMasterId r:id="rId8"/>
  </p:notesMasterIdLst>
  <p:sldIdLst>
    <p:sldId id="256" r:id="rId3"/>
    <p:sldId id="257" r:id="rId4"/>
    <p:sldId id="258" r:id="rId5"/>
    <p:sldId id="259" r:id="rId6"/>
    <p:sldId id="260" r:id="rId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9" d="100"/>
          <a:sy n="79" d="100"/>
        </p:scale>
        <p:origin x="23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bleStyles" Target="tableStyle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theme" Target="theme/theme1.xml"/><Relationship Id="rId5" Type="http://schemas.openxmlformats.org/officeDocument/2006/relationships/slide" Target="slides/slide3.xml"/><Relationship Id="rId10"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86136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John showed what the agent does. This block opens the hood: where the facts come from (Foundry IQ and the toolbox) and who the agent is when it reads and writes them. Three live demos, one slide each. Agent 365 closes on governance. Everything you see runs on fictional data, so we can show real calls safely.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518857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standard is the rulebook. It lives in a Foundry IQ knowledge base on Azure AI Search, and the agent calls it as an MCP tool through a project connection that uses the project's managed identity. Minimal reasoning effort: no model in the knowledge base, the agent's own model plans the query. Demo: run demo-foundry-iq.ps1, show DS-14 and DS-30 coming back. Then show kb-doc-agent in the Foundry portal.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075468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toolbox is a versioned bundle of MCP tools from several connections, behind one MCP endpoint. The agent version pins the toolbox version, so a change in tools is a new, testable release. Two toolboxes: four read tools for every assessment, one write tool used only by the approval runtime after a human approves in Teams. Demo: run demo-toolbox.ps1, then the PR #62 assessment (live if it passed at rehearsal, otherwise the recorded result).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4728216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agent gets an Entra agent identity. Azure DevOps only accepts users, so the agent also has an agent user. Our small gateway exchanges tokens: managed identity, blueprint, agent identity, agent user. No secrets, no person's account. The connection decides which identity is presented. Demo: Entra admin center Agent ID, the 'REFUSED ado' line from demo-toolbox.ps1 -TryAsMe, then the wiki history commit authored by the agent user after John's Teams Approve. Be honest about the security debt.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6887017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Foundry answers 'what runs in my project' for builders. Agent 365 answers 'which agents exist in my tenant, who owns them, and what can they touch' for IT and security. Because the agent already has its own Entra identity with scoped rights, it slots straight in. Agent 365 does not change how the agent runs; it changes who can see it, review it and switch it off. Mention residency for regulated customers. Hand over to Louise.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347205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1D8-34E5-3E40-2E86-691F9CEE9B29}"/>
              </a:ext>
            </a:extLst>
          </p:cNvPr>
          <p:cNvSpPr>
            <a:spLocks noGrp="1"/>
          </p:cNvSpPr>
          <p:nvPr>
            <p:ph type="title"/>
          </p:nvPr>
        </p:nvSpPr>
        <p:spPr/>
        <p:txBody>
          <a:bodyPr anchor="t"/>
          <a:lstStyle>
            <a:lvl1pPr>
              <a:defRPr sz="2400" b="0" spc="-68" baseline="0"/>
            </a:lvl1pPr>
          </a:lstStyle>
          <a:p>
            <a:r>
              <a:rPr lang="en-US"/>
              <a:t>Click to edit Master title style</a:t>
            </a:r>
          </a:p>
        </p:txBody>
      </p:sp>
    </p:spTree>
    <p:extLst>
      <p:ext uri="{BB962C8B-B14F-4D97-AF65-F5344CB8AC3E}">
        <p14:creationId xmlns:p14="http://schemas.microsoft.com/office/powerpoint/2010/main" val="183149868"/>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lvl1pPr>
              <a:defRPr>
                <a:latin typeface="+mj-lt"/>
              </a:defRPr>
            </a:lvl1pPr>
          </a:lstStyle>
          <a:p>
            <a:r>
              <a:rPr lang="en-GB"/>
              <a:t>Click to edit Master title style</a:t>
            </a:r>
            <a:endParaRPr lang="en-US"/>
          </a:p>
        </p:txBody>
      </p:sp>
    </p:spTree>
    <p:extLst>
      <p:ext uri="{BB962C8B-B14F-4D97-AF65-F5344CB8AC3E}">
        <p14:creationId xmlns:p14="http://schemas.microsoft.com/office/powerpoint/2010/main" val="2733703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66166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ags" Target="../tags/tag1.xml"/><Relationship Id="rId2" Type="http://schemas.openxmlformats.org/officeDocument/2006/relationships/theme" Target="../theme/theme1.xml"/><Relationship Id="rId1" Type="http://schemas.openxmlformats.org/officeDocument/2006/relationships/slideLayout" Target="../slideLayouts/slideLayout1.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A62DAC34-5F53-3983-6FC1-634B939CBB65}"/>
              </a:ext>
            </a:extLst>
          </p:cNvPr>
          <p:cNvGraphicFramePr>
            <a:graphicFrameLocks/>
          </p:cNvGraphicFramePr>
          <p:nvPr userDrawn="1">
            <p:custDataLst>
              <p:tags r:id="rId3"/>
            </p:custDataLst>
            <p:extLst>
              <p:ext uri="{D42A27DB-BD31-4B8C-83A1-F6EECF244321}">
                <p14:modId xmlns:p14="http://schemas.microsoft.com/office/powerpoint/2010/main" val="513172449"/>
              </p:ext>
            </p:extLst>
          </p:nvPr>
        </p:nvGraphicFramePr>
        <p:xfrm>
          <a:off x="1191" y="1191"/>
          <a:ext cx="1191" cy="1191"/>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think-cell data - do not delete" hidden="1">
                        <a:extLst>
                          <a:ext uri="{FF2B5EF4-FFF2-40B4-BE49-F238E27FC236}">
                            <a16:creationId xmlns:a16="http://schemas.microsoft.com/office/drawing/2014/main" id="{A62DAC34-5F53-3983-6FC1-634B939CBB65}"/>
                          </a:ext>
                        </a:extLst>
                      </p:cNvPr>
                      <p:cNvPicPr/>
                      <p:nvPr/>
                    </p:nvPicPr>
                    <p:blipFill>
                      <a:blip r:embed="rId5"/>
                      <a:stretch>
                        <a:fillRect/>
                      </a:stretch>
                    </p:blipFill>
                    <p:spPr>
                      <a:xfrm>
                        <a:off x="1191" y="1191"/>
                        <a:ext cx="1191" cy="1191"/>
                      </a:xfrm>
                      <a:prstGeom prst="rect">
                        <a:avLst/>
                      </a:prstGeom>
                    </p:spPr>
                  </p:pic>
                </p:oleObj>
              </mc:Fallback>
            </mc:AlternateContent>
          </a:graphicData>
        </a:graphic>
      </p:graphicFrame>
      <p:sp>
        <p:nvSpPr>
          <p:cNvPr id="2" name="Rectangle 1">
            <a:extLst>
              <a:ext uri="{FF2B5EF4-FFF2-40B4-BE49-F238E27FC236}">
                <a16:creationId xmlns:a16="http://schemas.microsoft.com/office/drawing/2014/main" id="{1893E9C6-D095-10DA-C5FD-19CDBFC42D8F}"/>
              </a:ext>
            </a:extLst>
          </p:cNvPr>
          <p:cNvSpPr/>
          <p:nvPr userDrawn="1"/>
        </p:nvSpPr>
        <p:spPr>
          <a:xfrm>
            <a:off x="0" y="0"/>
            <a:ext cx="9144000" cy="5143500"/>
          </a:xfrm>
          <a:prstGeom prst="rect">
            <a:avLst/>
          </a:prstGeom>
          <a:gradFill>
            <a:gsLst>
              <a:gs pos="71000">
                <a:schemeClr val="bg1">
                  <a:lumMod val="85000"/>
                  <a:alpha val="30000"/>
                </a:schemeClr>
              </a:gs>
              <a:gs pos="21000">
                <a:schemeClr val="bg1">
                  <a:lumMod val="95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350"/>
          </a:p>
        </p:txBody>
      </p:sp>
      <p:sp>
        <p:nvSpPr>
          <p:cNvPr id="5" name="Title Placeholder 6">
            <a:extLst>
              <a:ext uri="{FF2B5EF4-FFF2-40B4-BE49-F238E27FC236}">
                <a16:creationId xmlns:a16="http://schemas.microsoft.com/office/drawing/2014/main" id="{07364A6F-B735-C0A5-F4C2-529BF2E4D667}"/>
              </a:ext>
            </a:extLst>
          </p:cNvPr>
          <p:cNvSpPr>
            <a:spLocks noGrp="1"/>
          </p:cNvSpPr>
          <p:nvPr>
            <p:ph type="title"/>
          </p:nvPr>
        </p:nvSpPr>
        <p:spPr>
          <a:xfrm>
            <a:off x="314326" y="327247"/>
            <a:ext cx="8515349" cy="420320"/>
          </a:xfrm>
          <a:prstGeom prst="rect">
            <a:avLst/>
          </a:prstGeom>
        </p:spPr>
        <p:txBody>
          <a:bodyPr vert="horz" lIns="0" tIns="0" rIns="0" bIns="0" rtlCol="0" anchor="t">
            <a:noAutofit/>
          </a:bodyPr>
          <a:lstStyle/>
          <a:p>
            <a:r>
              <a:rPr lang="en-US"/>
              <a:t>Click to edit Master title style</a:t>
            </a:r>
          </a:p>
        </p:txBody>
      </p:sp>
      <p:sp>
        <p:nvSpPr>
          <p:cNvPr id="9" name="Text Placeholder 6">
            <a:extLst>
              <a:ext uri="{FF2B5EF4-FFF2-40B4-BE49-F238E27FC236}">
                <a16:creationId xmlns:a16="http://schemas.microsoft.com/office/drawing/2014/main" id="{48227E51-5187-8E8F-9867-60BE59439E76}"/>
              </a:ext>
            </a:extLst>
          </p:cNvPr>
          <p:cNvSpPr>
            <a:spLocks noGrp="1"/>
          </p:cNvSpPr>
          <p:nvPr>
            <p:ph type="body" idx="1"/>
          </p:nvPr>
        </p:nvSpPr>
        <p:spPr>
          <a:xfrm>
            <a:off x="314326" y="972784"/>
            <a:ext cx="8515349" cy="1382345"/>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6" name="TextBox 5">
            <a:extLst>
              <a:ext uri="{FF2B5EF4-FFF2-40B4-BE49-F238E27FC236}">
                <a16:creationId xmlns:a16="http://schemas.microsoft.com/office/drawing/2014/main" id="{49A4DA69-E28D-0D36-28A1-FE1DFF7235E0}"/>
              </a:ext>
            </a:extLst>
          </p:cNvPr>
          <p:cNvSpPr txBox="1"/>
          <p:nvPr userDrawn="1">
            <p:extLst>
              <p:ext uri="{1162E1C5-73C7-4A58-AE30-91384D911F3F}">
                <p184:classification xmlns:p184="http://schemas.microsoft.com/office/powerpoint/2018/4/main" val="ftr"/>
              </p:ext>
            </p:extLst>
          </p:nvPr>
        </p:nvSpPr>
        <p:spPr>
          <a:xfrm>
            <a:off x="47625" y="4981575"/>
            <a:ext cx="1483519" cy="115416"/>
          </a:xfrm>
          <a:prstGeom prst="rect">
            <a:avLst/>
          </a:prstGeom>
        </p:spPr>
        <p:txBody>
          <a:bodyPr horzOverflow="overflow" lIns="0" tIns="0" rIns="0" bIns="0">
            <a:spAutoFit/>
          </a:bodyPr>
          <a:lstStyle/>
          <a:p>
            <a:pPr algn="l"/>
            <a:r>
              <a:rPr lang="en-US" sz="750">
                <a:solidFill>
                  <a:srgbClr val="000000">
                    <a:alpha val="50000"/>
                  </a:srgbClr>
                </a:solidFill>
                <a:latin typeface="Aptos" panose="020B0004020202020204" pitchFamily="34" charset="0"/>
              </a:rPr>
              <a:t>Classified as Microsoft Confidential</a:t>
            </a:r>
          </a:p>
        </p:txBody>
      </p:sp>
    </p:spTree>
    <p:extLst>
      <p:ext uri="{BB962C8B-B14F-4D97-AF65-F5344CB8AC3E}">
        <p14:creationId xmlns:p14="http://schemas.microsoft.com/office/powerpoint/2010/main" val="3719336820"/>
      </p:ext>
    </p:extLst>
  </p:cSld>
  <p:clrMap bg1="lt1" tx1="dk1" bg2="lt2" tx2="dk2" accent1="accent1" accent2="accent2" accent3="accent3" accent4="accent4" accent5="accent5" accent6="accent6" hlink="hlink" folHlink="folHlink"/>
  <p:sldLayoutIdLst>
    <p:sldLayoutId id="2147483651" r:id="rId1"/>
  </p:sldLayoutIdLst>
  <p:hf sldNum="0" hdr="0" ftr="0" dt="0"/>
  <p:txStyles>
    <p:titleStyle>
      <a:lvl1pPr algn="l" defTabSz="342832" rtl="0" eaLnBrk="1" latinLnBrk="0" hangingPunct="1">
        <a:spcBef>
          <a:spcPct val="0"/>
        </a:spcBef>
        <a:buNone/>
        <a:defRPr sz="2700" b="0" i="0" kern="0" spc="-68" baseline="0">
          <a:solidFill>
            <a:schemeClr val="tx1"/>
          </a:solidFill>
          <a:latin typeface="+mj-lt"/>
          <a:ea typeface="+mj-ea"/>
          <a:cs typeface="Segoe Sans Display Semibold" pitchFamily="2" charset="0"/>
        </a:defRPr>
      </a:lvl1pPr>
    </p:titleStyle>
    <p:bodyStyle>
      <a:lvl1pPr marL="0" indent="0" algn="l" defTabSz="342832" rtl="0" eaLnBrk="1" latinLnBrk="0" hangingPunct="1">
        <a:lnSpc>
          <a:spcPct val="100000"/>
        </a:lnSpc>
        <a:spcBef>
          <a:spcPts val="252"/>
        </a:spcBef>
        <a:buFont typeface="Arial" panose="020B0604020202020204" pitchFamily="34" charset="0"/>
        <a:buNone/>
        <a:defRPr sz="2249" b="0" i="0" kern="0" spc="-38" baseline="0">
          <a:solidFill>
            <a:schemeClr val="tx1"/>
          </a:solidFill>
          <a:latin typeface="+mn-lt"/>
          <a:ea typeface="+mn-ea"/>
          <a:cs typeface="Segoe Sans Display Semibold" pitchFamily="2" charset="0"/>
        </a:defRPr>
      </a:lvl1pPr>
      <a:lvl2pPr marL="171416" indent="0" algn="l" defTabSz="342832" rtl="0" eaLnBrk="1" latinLnBrk="0" hangingPunct="1">
        <a:lnSpc>
          <a:spcPct val="100000"/>
        </a:lnSpc>
        <a:spcBef>
          <a:spcPts val="252"/>
        </a:spcBef>
        <a:buFont typeface="Arial" panose="020B0604020202020204" pitchFamily="34" charset="0"/>
        <a:buNone/>
        <a:defRPr sz="1800" b="0" i="0" kern="0" spc="-38" baseline="0">
          <a:solidFill>
            <a:schemeClr val="tx1"/>
          </a:solidFill>
          <a:latin typeface="+mn-lt"/>
          <a:ea typeface="+mn-ea"/>
          <a:cs typeface="Segoe Sans Display Semibold" pitchFamily="2" charset="0"/>
        </a:defRPr>
      </a:lvl2pPr>
      <a:lvl3pPr marL="342832" indent="0" algn="l" defTabSz="342832" rtl="0" eaLnBrk="1" latinLnBrk="0" hangingPunct="1">
        <a:lnSpc>
          <a:spcPct val="100000"/>
        </a:lnSpc>
        <a:spcBef>
          <a:spcPts val="252"/>
        </a:spcBef>
        <a:buFont typeface="Arial" panose="020B0604020202020204" pitchFamily="34" charset="0"/>
        <a:buNone/>
        <a:defRPr sz="1350" b="0" i="0" kern="0" spc="0" baseline="0">
          <a:solidFill>
            <a:schemeClr val="tx1"/>
          </a:solidFill>
          <a:latin typeface="+mn-lt"/>
          <a:ea typeface="+mn-ea"/>
          <a:cs typeface="Segoe Sans Display Semibold" pitchFamily="2" charset="0"/>
        </a:defRPr>
      </a:lvl3pPr>
      <a:lvl4pPr marL="514247" indent="0" algn="l" defTabSz="342832" rtl="0" eaLnBrk="1" latinLnBrk="0" hangingPunct="1">
        <a:lnSpc>
          <a:spcPct val="100000"/>
        </a:lnSpc>
        <a:spcBef>
          <a:spcPts val="252"/>
        </a:spcBef>
        <a:buFont typeface="Arial" panose="020B0604020202020204" pitchFamily="34" charset="0"/>
        <a:buNone/>
        <a:defRPr sz="900" b="0" i="0" kern="0" spc="0" baseline="0">
          <a:solidFill>
            <a:schemeClr val="tx1"/>
          </a:solidFill>
          <a:latin typeface="+mn-lt"/>
          <a:ea typeface="+mn-ea"/>
          <a:cs typeface="Segoe Sans Display Semibold" pitchFamily="2" charset="0"/>
        </a:defRPr>
      </a:lvl4pPr>
      <a:lvl5pPr marL="685663" indent="0" algn="l" defTabSz="342832" rtl="0" eaLnBrk="1" latinLnBrk="0" hangingPunct="1">
        <a:lnSpc>
          <a:spcPct val="100000"/>
        </a:lnSpc>
        <a:spcBef>
          <a:spcPts val="252"/>
        </a:spcBef>
        <a:buFont typeface="Arial" panose="020B0604020202020204" pitchFamily="34" charset="0"/>
        <a:buNone/>
        <a:defRPr sz="825" b="0" i="0" kern="0" spc="0" baseline="0">
          <a:solidFill>
            <a:schemeClr val="tx1"/>
          </a:solidFill>
          <a:latin typeface="+mn-lt"/>
          <a:ea typeface="+mn-ea"/>
          <a:cs typeface="Segoe Sans Display Semibold" pitchFamily="2" charset="0"/>
        </a:defRPr>
      </a:lvl5pPr>
      <a:lvl6pPr marL="857078" indent="0" algn="l" defTabSz="342832" rtl="0" eaLnBrk="1" latinLnBrk="0" hangingPunct="1">
        <a:spcBef>
          <a:spcPct val="20000"/>
        </a:spcBef>
        <a:buFont typeface="Arial" panose="020B0604020202020204" pitchFamily="34" charset="0"/>
        <a:buNone/>
        <a:defRPr sz="750" b="0" i="0" kern="0" spc="0" baseline="0">
          <a:solidFill>
            <a:schemeClr val="tx1"/>
          </a:solidFill>
          <a:latin typeface="+mn-lt"/>
          <a:ea typeface="+mn-ea"/>
          <a:cs typeface="Segoe Sans Display Semibold" pitchFamily="2" charset="0"/>
        </a:defRPr>
      </a:lvl6pPr>
      <a:lvl7pPr marL="1028495" indent="0" algn="l" defTabSz="342832" rtl="0" eaLnBrk="1" latinLnBrk="0" hangingPunct="1">
        <a:spcBef>
          <a:spcPct val="20000"/>
        </a:spcBef>
        <a:buFont typeface="Arial" panose="020B0604020202020204" pitchFamily="34" charset="0"/>
        <a:buNone/>
        <a:defRPr sz="825" kern="0" spc="-38" baseline="0">
          <a:solidFill>
            <a:schemeClr val="bg1"/>
          </a:solidFill>
          <a:latin typeface="+mn-lt"/>
          <a:ea typeface="+mn-ea"/>
          <a:cs typeface="+mn-cs"/>
        </a:defRPr>
      </a:lvl7pPr>
      <a:lvl8pPr marL="1199910" indent="0" algn="l" defTabSz="342832" rtl="0" eaLnBrk="1" latinLnBrk="0" hangingPunct="1">
        <a:spcBef>
          <a:spcPct val="20000"/>
        </a:spcBef>
        <a:buFont typeface="Arial" pitchFamily="34" charset="0"/>
        <a:buNone/>
        <a:defRPr sz="750" kern="1200">
          <a:solidFill>
            <a:schemeClr val="bg1"/>
          </a:solidFill>
          <a:latin typeface="+mn-lt"/>
          <a:ea typeface="+mn-ea"/>
          <a:cs typeface="+mn-cs"/>
        </a:defRPr>
      </a:lvl8pPr>
      <a:lvl9pPr marL="1457033" indent="-85708" algn="l" defTabSz="342832" rtl="0" eaLnBrk="1" latinLnBrk="0" hangingPunct="1">
        <a:spcBef>
          <a:spcPct val="20000"/>
        </a:spcBef>
        <a:buFont typeface="Arial" pitchFamily="34" charset="0"/>
        <a:buChar char="•"/>
        <a:defRPr sz="750" kern="1200">
          <a:solidFill>
            <a:schemeClr val="tx1"/>
          </a:solidFill>
          <a:latin typeface="+mn-lt"/>
          <a:ea typeface="+mn-ea"/>
          <a:cs typeface="+mn-cs"/>
        </a:defRPr>
      </a:lvl9pPr>
    </p:bodyStyle>
    <p:otherStyle>
      <a:defPPr>
        <a:defRPr lang="en-US"/>
      </a:defPPr>
      <a:lvl1pPr marL="0" algn="l" defTabSz="342832" rtl="0" eaLnBrk="1" latinLnBrk="0" hangingPunct="1">
        <a:defRPr sz="675" kern="1200">
          <a:solidFill>
            <a:schemeClr val="tx1"/>
          </a:solidFill>
          <a:latin typeface="+mn-lt"/>
          <a:ea typeface="+mn-ea"/>
          <a:cs typeface="+mn-cs"/>
        </a:defRPr>
      </a:lvl1pPr>
      <a:lvl2pPr marL="171416" algn="l" defTabSz="342832" rtl="0" eaLnBrk="1" latinLnBrk="0" hangingPunct="1">
        <a:defRPr sz="675" kern="1200">
          <a:solidFill>
            <a:schemeClr val="tx1"/>
          </a:solidFill>
          <a:latin typeface="+mn-lt"/>
          <a:ea typeface="+mn-ea"/>
          <a:cs typeface="+mn-cs"/>
        </a:defRPr>
      </a:lvl2pPr>
      <a:lvl3pPr marL="342832" algn="l" defTabSz="342832" rtl="0" eaLnBrk="1" latinLnBrk="0" hangingPunct="1">
        <a:defRPr sz="675" kern="1200">
          <a:solidFill>
            <a:schemeClr val="tx1"/>
          </a:solidFill>
          <a:latin typeface="+mn-lt"/>
          <a:ea typeface="+mn-ea"/>
          <a:cs typeface="+mn-cs"/>
        </a:defRPr>
      </a:lvl3pPr>
      <a:lvl4pPr marL="514247" algn="l" defTabSz="342832" rtl="0" eaLnBrk="1" latinLnBrk="0" hangingPunct="1">
        <a:defRPr sz="675" kern="1200">
          <a:solidFill>
            <a:schemeClr val="tx1"/>
          </a:solidFill>
          <a:latin typeface="+mn-lt"/>
          <a:ea typeface="+mn-ea"/>
          <a:cs typeface="+mn-cs"/>
        </a:defRPr>
      </a:lvl4pPr>
      <a:lvl5pPr marL="685663" algn="l" defTabSz="342832" rtl="0" eaLnBrk="1" latinLnBrk="0" hangingPunct="1">
        <a:defRPr sz="675" kern="1200">
          <a:solidFill>
            <a:schemeClr val="tx1"/>
          </a:solidFill>
          <a:latin typeface="+mn-lt"/>
          <a:ea typeface="+mn-ea"/>
          <a:cs typeface="+mn-cs"/>
        </a:defRPr>
      </a:lvl5pPr>
      <a:lvl6pPr marL="857078" algn="l" defTabSz="342832" rtl="0" eaLnBrk="1" latinLnBrk="0" hangingPunct="1">
        <a:defRPr sz="675" kern="1200">
          <a:solidFill>
            <a:schemeClr val="tx1"/>
          </a:solidFill>
          <a:latin typeface="+mn-lt"/>
          <a:ea typeface="+mn-ea"/>
          <a:cs typeface="+mn-cs"/>
        </a:defRPr>
      </a:lvl6pPr>
      <a:lvl7pPr marL="1028495" algn="l" defTabSz="342832" rtl="0" eaLnBrk="1" latinLnBrk="0" hangingPunct="1">
        <a:defRPr sz="675" kern="1200">
          <a:solidFill>
            <a:schemeClr val="tx1"/>
          </a:solidFill>
          <a:latin typeface="+mn-lt"/>
          <a:ea typeface="+mn-ea"/>
          <a:cs typeface="+mn-cs"/>
        </a:defRPr>
      </a:lvl7pPr>
      <a:lvl8pPr marL="1199910" algn="l" defTabSz="342832" rtl="0" eaLnBrk="1" latinLnBrk="0" hangingPunct="1">
        <a:defRPr sz="675" kern="1200">
          <a:solidFill>
            <a:schemeClr val="tx1"/>
          </a:solidFill>
          <a:latin typeface="+mn-lt"/>
          <a:ea typeface="+mn-ea"/>
          <a:cs typeface="+mn-cs"/>
        </a:defRPr>
      </a:lvl8pPr>
      <a:lvl9pPr marL="1371326" algn="l" defTabSz="342832" rtl="0" eaLnBrk="1" latinLnBrk="0" hangingPunct="1">
        <a:defRPr sz="67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056">
          <p15:clr>
            <a:srgbClr val="F26B43"/>
          </p15:clr>
        </p15:guide>
        <p15:guide id="2" pos="264">
          <p15:clr>
            <a:srgbClr val="F26B43"/>
          </p15:clr>
        </p15:guide>
        <p15:guide id="3" pos="7416">
          <p15:clr>
            <a:srgbClr val="F26B43"/>
          </p15:clr>
        </p15:guide>
        <p15:guide id="4" orient="horz" pos="26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5" name="Title Placeholder 6">
            <a:extLst>
              <a:ext uri="{FF2B5EF4-FFF2-40B4-BE49-F238E27FC236}">
                <a16:creationId xmlns:a16="http://schemas.microsoft.com/office/drawing/2014/main" id="{07364A6F-B735-C0A5-F4C2-529BF2E4D667}"/>
              </a:ext>
            </a:extLst>
          </p:cNvPr>
          <p:cNvSpPr>
            <a:spLocks noGrp="1"/>
          </p:cNvSpPr>
          <p:nvPr>
            <p:ph type="title"/>
          </p:nvPr>
        </p:nvSpPr>
        <p:spPr>
          <a:xfrm>
            <a:off x="394423" y="467887"/>
            <a:ext cx="7886864" cy="420320"/>
          </a:xfrm>
          <a:prstGeom prst="rect">
            <a:avLst/>
          </a:prstGeom>
        </p:spPr>
        <p:txBody>
          <a:bodyPr vert="horz" lIns="91440" tIns="45720" rIns="91440" bIns="45720" rtlCol="0" anchor="ctr">
            <a:noAutofit/>
          </a:bodyPr>
          <a:lstStyle/>
          <a:p>
            <a:r>
              <a:rPr lang="en-US"/>
              <a:t>Click to edit Master title style</a:t>
            </a:r>
          </a:p>
        </p:txBody>
      </p:sp>
      <p:sp>
        <p:nvSpPr>
          <p:cNvPr id="9" name="Text Placeholder 6">
            <a:extLst>
              <a:ext uri="{FF2B5EF4-FFF2-40B4-BE49-F238E27FC236}">
                <a16:creationId xmlns:a16="http://schemas.microsoft.com/office/drawing/2014/main" id="{48227E51-5187-8E8F-9867-60BE59439E76}"/>
              </a:ext>
            </a:extLst>
          </p:cNvPr>
          <p:cNvSpPr>
            <a:spLocks noGrp="1"/>
          </p:cNvSpPr>
          <p:nvPr>
            <p:ph type="body" idx="1"/>
          </p:nvPr>
        </p:nvSpPr>
        <p:spPr>
          <a:xfrm>
            <a:off x="394423" y="1507215"/>
            <a:ext cx="7886864" cy="13823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3167338234"/>
      </p:ext>
    </p:extLst>
  </p:cSld>
  <p:clrMap bg1="lt1" tx1="dk1" bg2="lt2" tx2="dk2" accent1="accent1" accent2="accent2" accent3="accent3" accent4="accent4" accent5="accent5" accent6="accent6" hlink="hlink" folHlink="folHlink"/>
  <p:sldLayoutIdLst>
    <p:sldLayoutId id="2147483654" r:id="rId1"/>
    <p:sldLayoutId id="2147483655" r:id="rId2"/>
  </p:sldLayoutIdLst>
  <p:hf sldNum="0" hdr="0" ftr="0" dt="0"/>
  <p:txStyles>
    <p:titleStyle>
      <a:lvl1pPr algn="l" defTabSz="342832" rtl="0" eaLnBrk="1" latinLnBrk="0" hangingPunct="1">
        <a:spcBef>
          <a:spcPct val="0"/>
        </a:spcBef>
        <a:buNone/>
        <a:defRPr sz="3749" b="1" i="0" kern="0" spc="-150" baseline="0">
          <a:solidFill>
            <a:schemeClr val="bg1"/>
          </a:solidFill>
          <a:latin typeface="Segoe UI Semibold" panose="020B0702040204020203" pitchFamily="34" charset="0"/>
          <a:ea typeface="+mj-ea"/>
          <a:cs typeface="Segoe UI Semibold" panose="020B0702040204020203" pitchFamily="34" charset="0"/>
        </a:defRPr>
      </a:lvl1pPr>
    </p:titleStyle>
    <p:bodyStyle>
      <a:lvl1pPr marL="0" indent="0" algn="l" defTabSz="342832" rtl="0" eaLnBrk="1" latinLnBrk="0" hangingPunct="1">
        <a:lnSpc>
          <a:spcPct val="100000"/>
        </a:lnSpc>
        <a:spcBef>
          <a:spcPts val="252"/>
        </a:spcBef>
        <a:buFont typeface="Arial" panose="020B0604020202020204" pitchFamily="34" charset="0"/>
        <a:buNone/>
        <a:defRPr sz="2249" b="1" i="0" kern="0" spc="-38" baseline="0">
          <a:solidFill>
            <a:schemeClr val="bg1"/>
          </a:solidFill>
          <a:latin typeface="Segoe UI Semibold" panose="020B0702040204020203" pitchFamily="34" charset="0"/>
          <a:ea typeface="+mn-ea"/>
          <a:cs typeface="Segoe UI Semibold" panose="020B0702040204020203" pitchFamily="34" charset="0"/>
        </a:defRPr>
      </a:lvl1pPr>
      <a:lvl2pPr marL="171416" indent="0" algn="l" defTabSz="342832" rtl="0" eaLnBrk="1" latinLnBrk="0" hangingPunct="1">
        <a:lnSpc>
          <a:spcPct val="100000"/>
        </a:lnSpc>
        <a:spcBef>
          <a:spcPts val="252"/>
        </a:spcBef>
        <a:buFont typeface="Arial" panose="020B0604020202020204" pitchFamily="34" charset="0"/>
        <a:buNone/>
        <a:defRPr sz="1800" b="1" i="0" kern="0" spc="-38" baseline="0">
          <a:solidFill>
            <a:schemeClr val="bg1"/>
          </a:solidFill>
          <a:latin typeface="Segoe UI Semibold" panose="020B0702040204020203" pitchFamily="34" charset="0"/>
          <a:ea typeface="+mn-ea"/>
          <a:cs typeface="Segoe UI Semibold" panose="020B0702040204020203" pitchFamily="34" charset="0"/>
        </a:defRPr>
      </a:lvl2pPr>
      <a:lvl3pPr marL="342832" indent="0" algn="l" defTabSz="342832" rtl="0" eaLnBrk="1" latinLnBrk="0" hangingPunct="1">
        <a:lnSpc>
          <a:spcPct val="100000"/>
        </a:lnSpc>
        <a:spcBef>
          <a:spcPts val="252"/>
        </a:spcBef>
        <a:buFont typeface="Arial" panose="020B0604020202020204" pitchFamily="34" charset="0"/>
        <a:buNone/>
        <a:defRPr sz="1350" b="1" i="0" kern="0" spc="0" baseline="0">
          <a:solidFill>
            <a:schemeClr val="bg1"/>
          </a:solidFill>
          <a:latin typeface="Segoe UI Semibold" panose="020B0702040204020203" pitchFamily="34" charset="0"/>
          <a:ea typeface="+mn-ea"/>
          <a:cs typeface="Segoe UI Semibold" panose="020B0702040204020203" pitchFamily="34" charset="0"/>
        </a:defRPr>
      </a:lvl3pPr>
      <a:lvl4pPr marL="514247" indent="0" algn="l" defTabSz="342832" rtl="0" eaLnBrk="1" latinLnBrk="0" hangingPunct="1">
        <a:lnSpc>
          <a:spcPct val="100000"/>
        </a:lnSpc>
        <a:spcBef>
          <a:spcPts val="252"/>
        </a:spcBef>
        <a:buFont typeface="Arial" panose="020B0604020202020204" pitchFamily="34" charset="0"/>
        <a:buNone/>
        <a:defRPr sz="900" b="1" i="0" kern="0" spc="0" baseline="0">
          <a:solidFill>
            <a:schemeClr val="bg1"/>
          </a:solidFill>
          <a:latin typeface="Segoe UI Semibold" panose="020B0702040204020203" pitchFamily="34" charset="0"/>
          <a:ea typeface="+mn-ea"/>
          <a:cs typeface="Segoe UI Semibold" panose="020B0702040204020203" pitchFamily="34" charset="0"/>
        </a:defRPr>
      </a:lvl4pPr>
      <a:lvl5pPr marL="685663" indent="0" algn="l" defTabSz="342832" rtl="0" eaLnBrk="1" latinLnBrk="0" hangingPunct="1">
        <a:lnSpc>
          <a:spcPct val="100000"/>
        </a:lnSpc>
        <a:spcBef>
          <a:spcPts val="252"/>
        </a:spcBef>
        <a:buFont typeface="Arial" panose="020B0604020202020204" pitchFamily="34" charset="0"/>
        <a:buNone/>
        <a:defRPr sz="825" b="1" i="0" kern="0" spc="0" baseline="0">
          <a:solidFill>
            <a:schemeClr val="bg1"/>
          </a:solidFill>
          <a:latin typeface="Segoe UI Semibold" panose="020B0702040204020203" pitchFamily="34" charset="0"/>
          <a:ea typeface="+mn-ea"/>
          <a:cs typeface="Segoe UI Semibold" panose="020B0702040204020203" pitchFamily="34" charset="0"/>
        </a:defRPr>
      </a:lvl5pPr>
      <a:lvl6pPr marL="857078" indent="0" algn="l" defTabSz="342832" rtl="0" eaLnBrk="1" latinLnBrk="0" hangingPunct="1">
        <a:spcBef>
          <a:spcPct val="20000"/>
        </a:spcBef>
        <a:buFont typeface="Arial" panose="020B0604020202020204" pitchFamily="34" charset="0"/>
        <a:buNone/>
        <a:defRPr sz="750" b="1" i="0" kern="0" spc="0" baseline="0">
          <a:solidFill>
            <a:schemeClr val="bg1"/>
          </a:solidFill>
          <a:latin typeface="Segoe UI Semibold" panose="020B0702040204020203" pitchFamily="34" charset="0"/>
          <a:ea typeface="+mn-ea"/>
          <a:cs typeface="Segoe UI Semibold" panose="020B0702040204020203" pitchFamily="34" charset="0"/>
        </a:defRPr>
      </a:lvl6pPr>
      <a:lvl7pPr marL="1028495" indent="0" algn="l" defTabSz="342832" rtl="0" eaLnBrk="1" latinLnBrk="0" hangingPunct="1">
        <a:spcBef>
          <a:spcPct val="20000"/>
        </a:spcBef>
        <a:buFont typeface="Arial" panose="020B0604020202020204" pitchFamily="34" charset="0"/>
        <a:buNone/>
        <a:defRPr sz="825" kern="0" spc="-38" baseline="0">
          <a:solidFill>
            <a:schemeClr val="bg1"/>
          </a:solidFill>
          <a:latin typeface="+mn-lt"/>
          <a:ea typeface="+mn-ea"/>
          <a:cs typeface="+mn-cs"/>
        </a:defRPr>
      </a:lvl7pPr>
      <a:lvl8pPr marL="1199910" indent="0" algn="l" defTabSz="342832" rtl="0" eaLnBrk="1" latinLnBrk="0" hangingPunct="1">
        <a:spcBef>
          <a:spcPct val="20000"/>
        </a:spcBef>
        <a:buFont typeface="Arial" pitchFamily="34" charset="0"/>
        <a:buNone/>
        <a:defRPr sz="750" kern="1200">
          <a:solidFill>
            <a:schemeClr val="bg1"/>
          </a:solidFill>
          <a:latin typeface="+mn-lt"/>
          <a:ea typeface="+mn-ea"/>
          <a:cs typeface="+mn-cs"/>
        </a:defRPr>
      </a:lvl8pPr>
      <a:lvl9pPr marL="1457033" indent="-85708" algn="l" defTabSz="342832" rtl="0" eaLnBrk="1" latinLnBrk="0" hangingPunct="1">
        <a:spcBef>
          <a:spcPct val="20000"/>
        </a:spcBef>
        <a:buFont typeface="Arial" pitchFamily="34" charset="0"/>
        <a:buChar char="•"/>
        <a:defRPr sz="750" kern="1200">
          <a:solidFill>
            <a:schemeClr val="tx1"/>
          </a:solidFill>
          <a:latin typeface="+mn-lt"/>
          <a:ea typeface="+mn-ea"/>
          <a:cs typeface="+mn-cs"/>
        </a:defRPr>
      </a:lvl9pPr>
    </p:bodyStyle>
    <p:otherStyle>
      <a:defPPr>
        <a:defRPr lang="en-US"/>
      </a:defPPr>
      <a:lvl1pPr marL="0" algn="l" defTabSz="342832" rtl="0" eaLnBrk="1" latinLnBrk="0" hangingPunct="1">
        <a:defRPr sz="675" kern="1200">
          <a:solidFill>
            <a:schemeClr val="tx1"/>
          </a:solidFill>
          <a:latin typeface="+mn-lt"/>
          <a:ea typeface="+mn-ea"/>
          <a:cs typeface="+mn-cs"/>
        </a:defRPr>
      </a:lvl1pPr>
      <a:lvl2pPr marL="171416" algn="l" defTabSz="342832" rtl="0" eaLnBrk="1" latinLnBrk="0" hangingPunct="1">
        <a:defRPr sz="675" kern="1200">
          <a:solidFill>
            <a:schemeClr val="tx1"/>
          </a:solidFill>
          <a:latin typeface="+mn-lt"/>
          <a:ea typeface="+mn-ea"/>
          <a:cs typeface="+mn-cs"/>
        </a:defRPr>
      </a:lvl2pPr>
      <a:lvl3pPr marL="342832" algn="l" defTabSz="342832" rtl="0" eaLnBrk="1" latinLnBrk="0" hangingPunct="1">
        <a:defRPr sz="675" kern="1200">
          <a:solidFill>
            <a:schemeClr val="tx1"/>
          </a:solidFill>
          <a:latin typeface="+mn-lt"/>
          <a:ea typeface="+mn-ea"/>
          <a:cs typeface="+mn-cs"/>
        </a:defRPr>
      </a:lvl3pPr>
      <a:lvl4pPr marL="514247" algn="l" defTabSz="342832" rtl="0" eaLnBrk="1" latinLnBrk="0" hangingPunct="1">
        <a:defRPr sz="675" kern="1200">
          <a:solidFill>
            <a:schemeClr val="tx1"/>
          </a:solidFill>
          <a:latin typeface="+mn-lt"/>
          <a:ea typeface="+mn-ea"/>
          <a:cs typeface="+mn-cs"/>
        </a:defRPr>
      </a:lvl4pPr>
      <a:lvl5pPr marL="685663" algn="l" defTabSz="342832" rtl="0" eaLnBrk="1" latinLnBrk="0" hangingPunct="1">
        <a:defRPr sz="675" kern="1200">
          <a:solidFill>
            <a:schemeClr val="tx1"/>
          </a:solidFill>
          <a:latin typeface="+mn-lt"/>
          <a:ea typeface="+mn-ea"/>
          <a:cs typeface="+mn-cs"/>
        </a:defRPr>
      </a:lvl5pPr>
      <a:lvl6pPr marL="857078" algn="l" defTabSz="342832" rtl="0" eaLnBrk="1" latinLnBrk="0" hangingPunct="1">
        <a:defRPr sz="675" kern="1200">
          <a:solidFill>
            <a:schemeClr val="tx1"/>
          </a:solidFill>
          <a:latin typeface="+mn-lt"/>
          <a:ea typeface="+mn-ea"/>
          <a:cs typeface="+mn-cs"/>
        </a:defRPr>
      </a:lvl6pPr>
      <a:lvl7pPr marL="1028495" algn="l" defTabSz="342832" rtl="0" eaLnBrk="1" latinLnBrk="0" hangingPunct="1">
        <a:defRPr sz="675" kern="1200">
          <a:solidFill>
            <a:schemeClr val="tx1"/>
          </a:solidFill>
          <a:latin typeface="+mn-lt"/>
          <a:ea typeface="+mn-ea"/>
          <a:cs typeface="+mn-cs"/>
        </a:defRPr>
      </a:lvl7pPr>
      <a:lvl8pPr marL="1199910" algn="l" defTabSz="342832" rtl="0" eaLnBrk="1" latinLnBrk="0" hangingPunct="1">
        <a:defRPr sz="675" kern="1200">
          <a:solidFill>
            <a:schemeClr val="tx1"/>
          </a:solidFill>
          <a:latin typeface="+mn-lt"/>
          <a:ea typeface="+mn-ea"/>
          <a:cs typeface="+mn-cs"/>
        </a:defRPr>
      </a:lvl8pPr>
      <a:lvl9pPr marL="1371326" algn="l" defTabSz="342832" rtl="0" eaLnBrk="1" latinLnBrk="0" hangingPunct="1">
        <a:defRPr sz="67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93192" y="640080"/>
            <a:ext cx="7863840" cy="274320"/>
          </a:xfrm>
          <a:prstGeom prst="rect">
            <a:avLst/>
          </a:prstGeom>
          <a:noFill/>
          <a:ln/>
        </p:spPr>
        <p:txBody>
          <a:bodyPr wrap="square" lIns="0" tIns="0" rIns="0" bIns="0" rtlCol="0" anchor="ctr"/>
          <a:lstStyle/>
          <a:p>
            <a:pPr marL="0" indent="0">
              <a:buNone/>
            </a:pPr>
            <a:r>
              <a:rPr lang="en-US" sz="1500" dirty="0">
                <a:solidFill>
                  <a:srgbClr val="998CE4"/>
                </a:solidFill>
                <a:latin typeface="Segoe Sans Display" pitchFamily="34" charset="0"/>
                <a:ea typeface="Segoe Sans Display" pitchFamily="34" charset="-122"/>
                <a:cs typeface="Segoe Sans Display" pitchFamily="34" charset="-120"/>
              </a:rPr>
              <a:t>Where the agent's facts come from, and who it is when it uses them</a:t>
            </a:r>
            <a:endParaRPr lang="en-US" sz="1500" dirty="0"/>
          </a:p>
        </p:txBody>
      </p:sp>
      <p:sp>
        <p:nvSpPr>
          <p:cNvPr id="4" name="Shape 2"/>
          <p:cNvSpPr/>
          <p:nvPr/>
        </p:nvSpPr>
        <p:spPr>
          <a:xfrm>
            <a:off x="393192" y="1280160"/>
            <a:ext cx="1984248" cy="2788920"/>
          </a:xfrm>
          <a:prstGeom prst="roundRect">
            <a:avLst>
              <a:gd name="adj" fmla="val 6452"/>
            </a:avLst>
          </a:prstGeom>
          <a:solidFill>
            <a:srgbClr val="262626"/>
          </a:solidFill>
          <a:ln/>
        </p:spPr>
        <p:txBody>
          <a:bodyPr/>
          <a:lstStyle/>
          <a:p>
            <a:endParaRPr lang="LID4096"/>
          </a:p>
        </p:txBody>
      </p:sp>
      <p:sp>
        <p:nvSpPr>
          <p:cNvPr id="5" name="GRADBAND_TAB"/>
          <p:cNvSpPr/>
          <p:nvPr/>
        </p:nvSpPr>
        <p:spPr>
          <a:xfrm>
            <a:off x="393192" y="1280160"/>
            <a:ext cx="1984248"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FOUNDRY IQ</a:t>
            </a:r>
            <a:endParaRPr lang="en-US" sz="800" dirty="0"/>
          </a:p>
        </p:txBody>
      </p:sp>
      <p:sp>
        <p:nvSpPr>
          <p:cNvPr id="6" name="Text 4"/>
          <p:cNvSpPr/>
          <p:nvPr/>
        </p:nvSpPr>
        <p:spPr>
          <a:xfrm>
            <a:off x="594360" y="1783080"/>
            <a:ext cx="1097280" cy="502920"/>
          </a:xfrm>
          <a:prstGeom prst="rect">
            <a:avLst/>
          </a:prstGeom>
          <a:noFill/>
          <a:ln/>
        </p:spPr>
        <p:txBody>
          <a:bodyPr wrap="square" lIns="0" tIns="0" rIns="0" bIns="0" rtlCol="0" anchor="ctr"/>
          <a:lstStyle/>
          <a:p>
            <a:pPr marL="0" indent="0">
              <a:buNone/>
            </a:pPr>
            <a:r>
              <a:rPr lang="en-US" sz="2800" dirty="0">
                <a:solidFill>
                  <a:srgbClr val="998CE4"/>
                </a:solidFill>
                <a:latin typeface="Segoe Sans Display Semibold" pitchFamily="34" charset="0"/>
                <a:ea typeface="Segoe Sans Display Semibold" pitchFamily="34" charset="-122"/>
                <a:cs typeface="Segoe Sans Display Semibold" pitchFamily="34" charset="-120"/>
              </a:rPr>
              <a:t>01</a:t>
            </a:r>
            <a:endParaRPr lang="en-US" sz="2800" dirty="0"/>
          </a:p>
        </p:txBody>
      </p:sp>
      <p:sp>
        <p:nvSpPr>
          <p:cNvPr id="7" name="Text 5"/>
          <p:cNvSpPr/>
          <p:nvPr/>
        </p:nvSpPr>
        <p:spPr>
          <a:xfrm>
            <a:off x="594360" y="2377440"/>
            <a:ext cx="1581912" cy="960120"/>
          </a:xfrm>
          <a:prstGeom prst="rect">
            <a:avLst/>
          </a:prstGeom>
          <a:noFill/>
          <a:ln/>
        </p:spPr>
        <p:txBody>
          <a:bodyPr wrap="square" lIns="0" tIns="0" rIns="0" bIns="0" rtlCol="0" anchor="t"/>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Our documentation standard as a knowledge base the agent calls as a tool</a:t>
            </a:r>
            <a:endParaRPr lang="en-US" sz="1200" dirty="0"/>
          </a:p>
        </p:txBody>
      </p:sp>
      <p:sp>
        <p:nvSpPr>
          <p:cNvPr id="8" name="Text 6"/>
          <p:cNvSpPr/>
          <p:nvPr/>
        </p:nvSpPr>
        <p:spPr>
          <a:xfrm>
            <a:off x="594360" y="3566160"/>
            <a:ext cx="640080" cy="274320"/>
          </a:xfrm>
          <a:prstGeom prst="rect">
            <a:avLst/>
          </a:prstGeom>
          <a:noFill/>
          <a:ln/>
        </p:spPr>
        <p:txBody>
          <a:bodyPr wrap="square" lIns="0" tIns="0" rIns="0" bIns="0" rtlCol="0" anchor="ctr"/>
          <a:lstStyle/>
          <a:p>
            <a:pPr marL="0" indent="0">
              <a:buNone/>
            </a:pPr>
            <a:r>
              <a:rPr lang="en-US" sz="1000" dirty="0">
                <a:solidFill>
                  <a:srgbClr val="BFBFBF"/>
                </a:solidFill>
                <a:latin typeface="Segoe Sans Display Semibold" pitchFamily="34" charset="0"/>
                <a:ea typeface="Segoe Sans Display Semibold" pitchFamily="34" charset="-122"/>
                <a:cs typeface="Segoe Sans Display Semibold" pitchFamily="34" charset="-120"/>
              </a:rPr>
              <a:t>10:32</a:t>
            </a:r>
            <a:endParaRPr lang="en-US" sz="1000" dirty="0"/>
          </a:p>
        </p:txBody>
      </p:sp>
      <p:sp>
        <p:nvSpPr>
          <p:cNvPr id="9" name="Text 7"/>
          <p:cNvSpPr/>
          <p:nvPr/>
        </p:nvSpPr>
        <p:spPr>
          <a:xfrm>
            <a:off x="1353312" y="3566160"/>
            <a:ext cx="822960" cy="274320"/>
          </a:xfrm>
          <a:prstGeom prst="rect">
            <a:avLst/>
          </a:prstGeom>
          <a:solidFill>
            <a:srgbClr val="1E1A30"/>
          </a:solidFill>
          <a:ln w="12700">
            <a:solidFill>
              <a:srgbClr val="5944D4"/>
            </a:solidFill>
            <a:prstDash val="dash"/>
          </a:ln>
        </p:spPr>
        <p:txBody>
          <a:bodyPr wrap="square" lIns="0" tIns="0" rIns="0" bIns="0" rtlCol="0" anchor="ctr"/>
          <a:lstStyle/>
          <a:p>
            <a:pPr marL="0" indent="0" algn="ctr">
              <a:buNone/>
            </a:pPr>
            <a:r>
              <a:rPr lang="en-US" sz="750" kern="0" spc="150" dirty="0">
                <a:solidFill>
                  <a:srgbClr val="FEFFFE"/>
                </a:solidFill>
                <a:latin typeface="Segoe Sans Display Semibold" pitchFamily="34" charset="0"/>
                <a:ea typeface="Segoe Sans Display Semibold" pitchFamily="34" charset="-122"/>
                <a:cs typeface="Segoe Sans Display Semibold" pitchFamily="34" charset="-120"/>
              </a:rPr>
              <a:t>LIVE DEMO</a:t>
            </a:r>
            <a:endParaRPr lang="en-US" sz="750" dirty="0"/>
          </a:p>
        </p:txBody>
      </p:sp>
      <p:sp>
        <p:nvSpPr>
          <p:cNvPr id="10" name="Shape 8"/>
          <p:cNvSpPr/>
          <p:nvPr/>
        </p:nvSpPr>
        <p:spPr>
          <a:xfrm>
            <a:off x="2519172" y="1280160"/>
            <a:ext cx="1984248" cy="2788920"/>
          </a:xfrm>
          <a:prstGeom prst="roundRect">
            <a:avLst>
              <a:gd name="adj" fmla="val 6452"/>
            </a:avLst>
          </a:prstGeom>
          <a:solidFill>
            <a:srgbClr val="262626"/>
          </a:solidFill>
          <a:ln/>
        </p:spPr>
        <p:txBody>
          <a:bodyPr/>
          <a:lstStyle/>
          <a:p>
            <a:endParaRPr lang="LID4096"/>
          </a:p>
        </p:txBody>
      </p:sp>
      <p:sp>
        <p:nvSpPr>
          <p:cNvPr id="11" name="GRADBAND_TAB"/>
          <p:cNvSpPr/>
          <p:nvPr/>
        </p:nvSpPr>
        <p:spPr>
          <a:xfrm>
            <a:off x="2519172" y="1280160"/>
            <a:ext cx="1984248"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TOOLBOX</a:t>
            </a:r>
            <a:endParaRPr lang="en-US" sz="800" dirty="0"/>
          </a:p>
        </p:txBody>
      </p:sp>
      <p:sp>
        <p:nvSpPr>
          <p:cNvPr id="12" name="Text 10"/>
          <p:cNvSpPr/>
          <p:nvPr/>
        </p:nvSpPr>
        <p:spPr>
          <a:xfrm>
            <a:off x="2720340" y="1783080"/>
            <a:ext cx="1097280" cy="502920"/>
          </a:xfrm>
          <a:prstGeom prst="rect">
            <a:avLst/>
          </a:prstGeom>
          <a:noFill/>
          <a:ln/>
        </p:spPr>
        <p:txBody>
          <a:bodyPr wrap="square" lIns="0" tIns="0" rIns="0" bIns="0" rtlCol="0" anchor="ctr"/>
          <a:lstStyle/>
          <a:p>
            <a:pPr marL="0" indent="0">
              <a:buNone/>
            </a:pPr>
            <a:r>
              <a:rPr lang="en-US" sz="2800" dirty="0">
                <a:solidFill>
                  <a:srgbClr val="998CE4"/>
                </a:solidFill>
                <a:latin typeface="Segoe Sans Display Semibold" pitchFamily="34" charset="0"/>
                <a:ea typeface="Segoe Sans Display Semibold" pitchFamily="34" charset="-122"/>
                <a:cs typeface="Segoe Sans Display Semibold" pitchFamily="34" charset="-120"/>
              </a:rPr>
              <a:t>02</a:t>
            </a:r>
            <a:endParaRPr lang="en-US" sz="2800" dirty="0"/>
          </a:p>
        </p:txBody>
      </p:sp>
      <p:sp>
        <p:nvSpPr>
          <p:cNvPr id="13" name="Text 11"/>
          <p:cNvSpPr/>
          <p:nvPr/>
        </p:nvSpPr>
        <p:spPr>
          <a:xfrm>
            <a:off x="2720340" y="2377440"/>
            <a:ext cx="1581912" cy="960120"/>
          </a:xfrm>
          <a:prstGeom prst="rect">
            <a:avLst/>
          </a:prstGeom>
          <a:noFill/>
          <a:ln/>
        </p:spPr>
        <p:txBody>
          <a:bodyPr wrap="square" lIns="0" tIns="0" rIns="0" bIns="0" rtlCol="0" anchor="t"/>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One versioned bundle of the tools the agent is allowed to use</a:t>
            </a:r>
            <a:endParaRPr lang="en-US" sz="1200" dirty="0"/>
          </a:p>
        </p:txBody>
      </p:sp>
      <p:sp>
        <p:nvSpPr>
          <p:cNvPr id="14" name="Text 12"/>
          <p:cNvSpPr/>
          <p:nvPr/>
        </p:nvSpPr>
        <p:spPr>
          <a:xfrm>
            <a:off x="2720340" y="3566160"/>
            <a:ext cx="640080" cy="274320"/>
          </a:xfrm>
          <a:prstGeom prst="rect">
            <a:avLst/>
          </a:prstGeom>
          <a:noFill/>
          <a:ln/>
        </p:spPr>
        <p:txBody>
          <a:bodyPr wrap="square" lIns="0" tIns="0" rIns="0" bIns="0" rtlCol="0" anchor="ctr"/>
          <a:lstStyle/>
          <a:p>
            <a:pPr marL="0" indent="0">
              <a:buNone/>
            </a:pPr>
            <a:r>
              <a:rPr lang="en-US" sz="1000" dirty="0">
                <a:solidFill>
                  <a:srgbClr val="BFBFBF"/>
                </a:solidFill>
                <a:latin typeface="Segoe Sans Display Semibold" pitchFamily="34" charset="0"/>
                <a:ea typeface="Segoe Sans Display Semibold" pitchFamily="34" charset="-122"/>
                <a:cs typeface="Segoe Sans Display Semibold" pitchFamily="34" charset="-120"/>
              </a:rPr>
              <a:t>10:45</a:t>
            </a:r>
            <a:endParaRPr lang="en-US" sz="1000" dirty="0"/>
          </a:p>
        </p:txBody>
      </p:sp>
      <p:sp>
        <p:nvSpPr>
          <p:cNvPr id="15" name="Text 13"/>
          <p:cNvSpPr/>
          <p:nvPr/>
        </p:nvSpPr>
        <p:spPr>
          <a:xfrm>
            <a:off x="3479292" y="3566160"/>
            <a:ext cx="822960" cy="274320"/>
          </a:xfrm>
          <a:prstGeom prst="rect">
            <a:avLst/>
          </a:prstGeom>
          <a:solidFill>
            <a:srgbClr val="1E1A30"/>
          </a:solidFill>
          <a:ln w="12700">
            <a:solidFill>
              <a:srgbClr val="5944D4"/>
            </a:solidFill>
            <a:prstDash val="dash"/>
          </a:ln>
        </p:spPr>
        <p:txBody>
          <a:bodyPr wrap="square" lIns="0" tIns="0" rIns="0" bIns="0" rtlCol="0" anchor="ctr"/>
          <a:lstStyle/>
          <a:p>
            <a:pPr marL="0" indent="0" algn="ctr">
              <a:buNone/>
            </a:pPr>
            <a:r>
              <a:rPr lang="en-US" sz="750" kern="0" spc="150" dirty="0">
                <a:solidFill>
                  <a:srgbClr val="FEFFFE"/>
                </a:solidFill>
                <a:latin typeface="Segoe Sans Display Semibold" pitchFamily="34" charset="0"/>
                <a:ea typeface="Segoe Sans Display Semibold" pitchFamily="34" charset="-122"/>
                <a:cs typeface="Segoe Sans Display Semibold" pitchFamily="34" charset="-120"/>
              </a:rPr>
              <a:t>LIVE DEMO</a:t>
            </a:r>
            <a:endParaRPr lang="en-US" sz="750" dirty="0"/>
          </a:p>
        </p:txBody>
      </p:sp>
      <p:sp>
        <p:nvSpPr>
          <p:cNvPr id="16" name="Shape 14"/>
          <p:cNvSpPr/>
          <p:nvPr/>
        </p:nvSpPr>
        <p:spPr>
          <a:xfrm>
            <a:off x="4645152" y="1280160"/>
            <a:ext cx="1984248" cy="2788920"/>
          </a:xfrm>
          <a:prstGeom prst="roundRect">
            <a:avLst>
              <a:gd name="adj" fmla="val 6452"/>
            </a:avLst>
          </a:prstGeom>
          <a:solidFill>
            <a:srgbClr val="262626"/>
          </a:solidFill>
          <a:ln/>
        </p:spPr>
        <p:txBody>
          <a:bodyPr/>
          <a:lstStyle/>
          <a:p>
            <a:endParaRPr lang="LID4096"/>
          </a:p>
        </p:txBody>
      </p:sp>
      <p:sp>
        <p:nvSpPr>
          <p:cNvPr id="17" name="GRADBAND_TAB"/>
          <p:cNvSpPr/>
          <p:nvPr/>
        </p:nvSpPr>
        <p:spPr>
          <a:xfrm>
            <a:off x="4645152" y="1280160"/>
            <a:ext cx="1984248"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AGENT IDENTITY</a:t>
            </a:r>
            <a:endParaRPr lang="en-US" sz="800" dirty="0"/>
          </a:p>
        </p:txBody>
      </p:sp>
      <p:sp>
        <p:nvSpPr>
          <p:cNvPr id="18" name="Text 16"/>
          <p:cNvSpPr/>
          <p:nvPr/>
        </p:nvSpPr>
        <p:spPr>
          <a:xfrm>
            <a:off x="4846320" y="1783080"/>
            <a:ext cx="1097280" cy="502920"/>
          </a:xfrm>
          <a:prstGeom prst="rect">
            <a:avLst/>
          </a:prstGeom>
          <a:noFill/>
          <a:ln/>
        </p:spPr>
        <p:txBody>
          <a:bodyPr wrap="square" lIns="0" tIns="0" rIns="0" bIns="0" rtlCol="0" anchor="ctr"/>
          <a:lstStyle/>
          <a:p>
            <a:pPr marL="0" indent="0">
              <a:buNone/>
            </a:pPr>
            <a:r>
              <a:rPr lang="en-US" sz="2800" dirty="0">
                <a:solidFill>
                  <a:srgbClr val="998CE4"/>
                </a:solidFill>
                <a:latin typeface="Segoe Sans Display Semibold" pitchFamily="34" charset="0"/>
                <a:ea typeface="Segoe Sans Display Semibold" pitchFamily="34" charset="-122"/>
                <a:cs typeface="Segoe Sans Display Semibold" pitchFamily="34" charset="-120"/>
              </a:rPr>
              <a:t>03</a:t>
            </a:r>
            <a:endParaRPr lang="en-US" sz="2800" dirty="0"/>
          </a:p>
        </p:txBody>
      </p:sp>
      <p:sp>
        <p:nvSpPr>
          <p:cNvPr id="19" name="Text 17"/>
          <p:cNvSpPr/>
          <p:nvPr/>
        </p:nvSpPr>
        <p:spPr>
          <a:xfrm>
            <a:off x="4846320" y="2377440"/>
            <a:ext cx="1581912" cy="960120"/>
          </a:xfrm>
          <a:prstGeom prst="rect">
            <a:avLst/>
          </a:prstGeom>
          <a:noFill/>
          <a:ln/>
        </p:spPr>
        <p:txBody>
          <a:bodyPr wrap="square" lIns="0" tIns="0" rIns="0" bIns="0" rtlCol="0" anchor="t"/>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The agent signs in as itself, never as a person</a:t>
            </a:r>
            <a:endParaRPr lang="en-US" sz="1200" dirty="0"/>
          </a:p>
        </p:txBody>
      </p:sp>
      <p:sp>
        <p:nvSpPr>
          <p:cNvPr id="20" name="Text 18"/>
          <p:cNvSpPr/>
          <p:nvPr/>
        </p:nvSpPr>
        <p:spPr>
          <a:xfrm>
            <a:off x="4846320" y="3566160"/>
            <a:ext cx="640080" cy="274320"/>
          </a:xfrm>
          <a:prstGeom prst="rect">
            <a:avLst/>
          </a:prstGeom>
          <a:noFill/>
          <a:ln/>
        </p:spPr>
        <p:txBody>
          <a:bodyPr wrap="square" lIns="0" tIns="0" rIns="0" bIns="0" rtlCol="0" anchor="ctr"/>
          <a:lstStyle/>
          <a:p>
            <a:pPr marL="0" indent="0">
              <a:buNone/>
            </a:pPr>
            <a:r>
              <a:rPr lang="en-US" sz="1000" dirty="0">
                <a:solidFill>
                  <a:srgbClr val="BFBFBF"/>
                </a:solidFill>
                <a:latin typeface="Segoe Sans Display Semibold" pitchFamily="34" charset="0"/>
                <a:ea typeface="Segoe Sans Display Semibold" pitchFamily="34" charset="-122"/>
                <a:cs typeface="Segoe Sans Display Semibold" pitchFamily="34" charset="-120"/>
              </a:rPr>
              <a:t>10:58</a:t>
            </a:r>
            <a:endParaRPr lang="en-US" sz="1000" dirty="0"/>
          </a:p>
        </p:txBody>
      </p:sp>
      <p:sp>
        <p:nvSpPr>
          <p:cNvPr id="21" name="Text 19"/>
          <p:cNvSpPr/>
          <p:nvPr/>
        </p:nvSpPr>
        <p:spPr>
          <a:xfrm>
            <a:off x="5605272" y="3566160"/>
            <a:ext cx="822960" cy="274320"/>
          </a:xfrm>
          <a:prstGeom prst="rect">
            <a:avLst/>
          </a:prstGeom>
          <a:solidFill>
            <a:srgbClr val="1E1A30"/>
          </a:solidFill>
          <a:ln w="12700">
            <a:solidFill>
              <a:srgbClr val="5944D4"/>
            </a:solidFill>
            <a:prstDash val="dash"/>
          </a:ln>
        </p:spPr>
        <p:txBody>
          <a:bodyPr wrap="square" lIns="0" tIns="0" rIns="0" bIns="0" rtlCol="0" anchor="ctr"/>
          <a:lstStyle/>
          <a:p>
            <a:pPr marL="0" indent="0" algn="ctr">
              <a:buNone/>
            </a:pPr>
            <a:r>
              <a:rPr lang="en-US" sz="750" kern="0" spc="150" dirty="0">
                <a:solidFill>
                  <a:srgbClr val="FEFFFE"/>
                </a:solidFill>
                <a:latin typeface="Segoe Sans Display Semibold" pitchFamily="34" charset="0"/>
                <a:ea typeface="Segoe Sans Display Semibold" pitchFamily="34" charset="-122"/>
                <a:cs typeface="Segoe Sans Display Semibold" pitchFamily="34" charset="-120"/>
              </a:rPr>
              <a:t>LIVE DEMO</a:t>
            </a:r>
            <a:endParaRPr lang="en-US" sz="750" dirty="0"/>
          </a:p>
        </p:txBody>
      </p:sp>
      <p:sp>
        <p:nvSpPr>
          <p:cNvPr id="22" name="Shape 20"/>
          <p:cNvSpPr/>
          <p:nvPr/>
        </p:nvSpPr>
        <p:spPr>
          <a:xfrm>
            <a:off x="6771132" y="1280160"/>
            <a:ext cx="1984248" cy="2788920"/>
          </a:xfrm>
          <a:prstGeom prst="roundRect">
            <a:avLst>
              <a:gd name="adj" fmla="val 6452"/>
            </a:avLst>
          </a:prstGeom>
          <a:solidFill>
            <a:srgbClr val="262626"/>
          </a:solidFill>
          <a:ln/>
        </p:spPr>
        <p:txBody>
          <a:bodyPr/>
          <a:lstStyle/>
          <a:p>
            <a:endParaRPr lang="LID4096"/>
          </a:p>
        </p:txBody>
      </p:sp>
      <p:sp>
        <p:nvSpPr>
          <p:cNvPr id="23" name="GRADBAND_TAB"/>
          <p:cNvSpPr/>
          <p:nvPr/>
        </p:nvSpPr>
        <p:spPr>
          <a:xfrm>
            <a:off x="6771132" y="1280160"/>
            <a:ext cx="1984248"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AGENT 365</a:t>
            </a:r>
            <a:endParaRPr lang="en-US" sz="800" dirty="0"/>
          </a:p>
        </p:txBody>
      </p:sp>
      <p:sp>
        <p:nvSpPr>
          <p:cNvPr id="24" name="Text 22"/>
          <p:cNvSpPr/>
          <p:nvPr/>
        </p:nvSpPr>
        <p:spPr>
          <a:xfrm>
            <a:off x="6972300" y="1783080"/>
            <a:ext cx="1097280" cy="502920"/>
          </a:xfrm>
          <a:prstGeom prst="rect">
            <a:avLst/>
          </a:prstGeom>
          <a:noFill/>
          <a:ln/>
        </p:spPr>
        <p:txBody>
          <a:bodyPr wrap="square" lIns="0" tIns="0" rIns="0" bIns="0" rtlCol="0" anchor="ctr"/>
          <a:lstStyle/>
          <a:p>
            <a:pPr marL="0" indent="0">
              <a:buNone/>
            </a:pPr>
            <a:r>
              <a:rPr lang="en-US" sz="2800" dirty="0">
                <a:solidFill>
                  <a:srgbClr val="998CE4"/>
                </a:solidFill>
                <a:latin typeface="Segoe Sans Display Semibold" pitchFamily="34" charset="0"/>
                <a:ea typeface="Segoe Sans Display Semibold" pitchFamily="34" charset="-122"/>
                <a:cs typeface="Segoe Sans Display Semibold" pitchFamily="34" charset="-120"/>
              </a:rPr>
              <a:t>04</a:t>
            </a:r>
            <a:endParaRPr lang="en-US" sz="2800" dirty="0"/>
          </a:p>
        </p:txBody>
      </p:sp>
      <p:sp>
        <p:nvSpPr>
          <p:cNvPr id="25" name="Text 23"/>
          <p:cNvSpPr/>
          <p:nvPr/>
        </p:nvSpPr>
        <p:spPr>
          <a:xfrm>
            <a:off x="6972300" y="2377440"/>
            <a:ext cx="1581912" cy="960120"/>
          </a:xfrm>
          <a:prstGeom prst="rect">
            <a:avLst/>
          </a:prstGeom>
          <a:noFill/>
          <a:ln/>
        </p:spPr>
        <p:txBody>
          <a:bodyPr wrap="square" lIns="0" tIns="0" rIns="0" bIns="0" rtlCol="0" anchor="t"/>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Govern every agent in the tenant from one place</a:t>
            </a:r>
            <a:endParaRPr lang="en-US" sz="1200" dirty="0"/>
          </a:p>
        </p:txBody>
      </p:sp>
      <p:sp>
        <p:nvSpPr>
          <p:cNvPr id="26" name="Text 24"/>
          <p:cNvSpPr/>
          <p:nvPr/>
        </p:nvSpPr>
        <p:spPr>
          <a:xfrm>
            <a:off x="6972300" y="3566160"/>
            <a:ext cx="640080" cy="274320"/>
          </a:xfrm>
          <a:prstGeom prst="rect">
            <a:avLst/>
          </a:prstGeom>
          <a:noFill/>
          <a:ln/>
        </p:spPr>
        <p:txBody>
          <a:bodyPr wrap="square" lIns="0" tIns="0" rIns="0" bIns="0" rtlCol="0" anchor="ctr"/>
          <a:lstStyle/>
          <a:p>
            <a:pPr marL="0" indent="0">
              <a:buNone/>
            </a:pPr>
            <a:r>
              <a:rPr lang="en-US" sz="1000" dirty="0">
                <a:solidFill>
                  <a:srgbClr val="BFBFBF"/>
                </a:solidFill>
                <a:latin typeface="Segoe Sans Display Semibold" pitchFamily="34" charset="0"/>
                <a:ea typeface="Segoe Sans Display Semibold" pitchFamily="34" charset="-122"/>
                <a:cs typeface="Segoe Sans Display Semibold" pitchFamily="34" charset="-120"/>
              </a:rPr>
              <a:t>11:06</a:t>
            </a:r>
            <a:endParaRPr lang="en-US" sz="1000" dirty="0"/>
          </a:p>
        </p:txBody>
      </p:sp>
      <p:sp>
        <p:nvSpPr>
          <p:cNvPr id="27" name="Text 25"/>
          <p:cNvSpPr/>
          <p:nvPr/>
        </p:nvSpPr>
        <p:spPr>
          <a:xfrm>
            <a:off x="7731252" y="3566160"/>
            <a:ext cx="822960" cy="274320"/>
          </a:xfrm>
          <a:prstGeom prst="rect">
            <a:avLst/>
          </a:prstGeom>
          <a:solidFill>
            <a:srgbClr val="262626"/>
          </a:solidFill>
          <a:ln w="12700">
            <a:solidFill>
              <a:srgbClr val="595959"/>
            </a:solidFill>
            <a:prstDash val="dash"/>
          </a:ln>
        </p:spPr>
        <p:txBody>
          <a:bodyPr wrap="square" lIns="0" tIns="0" rIns="0" bIns="0" rtlCol="0" anchor="ctr"/>
          <a:lstStyle/>
          <a:p>
            <a:pPr marL="0" indent="0" algn="ctr">
              <a:buNone/>
            </a:pPr>
            <a:r>
              <a:rPr lang="en-US" sz="750" kern="0" spc="150" dirty="0">
                <a:solidFill>
                  <a:srgbClr val="FEFFFE"/>
                </a:solidFill>
                <a:latin typeface="Segoe Sans Display Semibold" pitchFamily="34" charset="0"/>
                <a:ea typeface="Segoe Sans Display Semibold" pitchFamily="34" charset="-122"/>
                <a:cs typeface="Segoe Sans Display Semibold" pitchFamily="34" charset="-120"/>
              </a:rPr>
              <a:t>SLIDE</a:t>
            </a:r>
            <a:endParaRPr lang="en-US" sz="750" dirty="0"/>
          </a:p>
        </p:txBody>
      </p:sp>
      <p:sp>
        <p:nvSpPr>
          <p:cNvPr id="28" name="Text 26"/>
          <p:cNvSpPr/>
          <p:nvPr/>
        </p:nvSpPr>
        <p:spPr>
          <a:xfrm>
            <a:off x="393192" y="4434840"/>
            <a:ext cx="8229600" cy="274320"/>
          </a:xfrm>
          <a:prstGeom prst="rect">
            <a:avLst/>
          </a:prstGeom>
          <a:noFill/>
          <a:ln/>
        </p:spPr>
        <p:txBody>
          <a:bodyPr wrap="square" lIns="0" tIns="0" rIns="0" bIns="0" rtlCol="0" anchor="ctr"/>
          <a:lstStyle/>
          <a:p>
            <a:pPr marL="0" indent="0">
              <a:buNone/>
            </a:pPr>
            <a:r>
              <a:rPr lang="en-US" sz="1100" dirty="0">
                <a:solidFill>
                  <a:srgbClr val="BFBFBF"/>
                </a:solidFill>
                <a:latin typeface="Segoe Sans Display" pitchFamily="34" charset="0"/>
                <a:ea typeface="Segoe Sans Display" pitchFamily="34" charset="-122"/>
                <a:cs typeface="Segoe Sans Display" pitchFamily="34" charset="-120"/>
              </a:rPr>
              <a:t>Rickard Widholm  ·  10:30–11:10  ·  Documentation Agent on Microsoft Foundry</a:t>
            </a:r>
            <a:endParaRPr lang="en-US" sz="1100" dirty="0"/>
          </a:p>
        </p:txBody>
      </p:sp>
      <p:sp>
        <p:nvSpPr>
          <p:cNvPr id="29" name="Title 28">
            <a:extLst>
              <a:ext uri="{FF2B5EF4-FFF2-40B4-BE49-F238E27FC236}">
                <a16:creationId xmlns:a16="http://schemas.microsoft.com/office/drawing/2014/main" id="{6163254F-B707-F1E8-05E0-CAC7DCD3FFC1}"/>
              </a:ext>
            </a:extLst>
          </p:cNvPr>
          <p:cNvSpPr>
            <a:spLocks noGrp="1"/>
          </p:cNvSpPr>
          <p:nvPr>
            <p:ph type="title"/>
          </p:nvPr>
        </p:nvSpPr>
        <p:spPr>
          <a:xfrm>
            <a:off x="303530" y="244094"/>
            <a:ext cx="7886700" cy="420370"/>
          </a:xfrm>
        </p:spPr>
        <p:txBody>
          <a:bodyPr/>
          <a:lstStyle/>
          <a:p>
            <a:r>
              <a:rPr lang="en-US" sz="2400"/>
              <a:t>Knowledge &amp; identity</a:t>
            </a:r>
            <a:endParaRPr lang="LID4096" sz="2400"/>
          </a:p>
        </p:txBody>
      </p:sp>
    </p:spTree>
    <p:extLst>
      <p:ext uri="{BB962C8B-B14F-4D97-AF65-F5344CB8AC3E}">
        <p14:creationId xmlns:p14="http://schemas.microsoft.com/office/powerpoint/2010/main" val="1766324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93192" y="640080"/>
            <a:ext cx="7863840" cy="274320"/>
          </a:xfrm>
          <a:prstGeom prst="rect">
            <a:avLst/>
          </a:prstGeom>
          <a:noFill/>
          <a:ln/>
        </p:spPr>
        <p:txBody>
          <a:bodyPr wrap="square" lIns="0" tIns="0" rIns="0" bIns="0" rtlCol="0" anchor="ctr"/>
          <a:lstStyle/>
          <a:p>
            <a:pPr marL="0" indent="0">
              <a:buNone/>
            </a:pPr>
            <a:r>
              <a:rPr lang="en-US" sz="1500" dirty="0">
                <a:solidFill>
                  <a:srgbClr val="998CE4"/>
                </a:solidFill>
                <a:latin typeface="Segoe Sans Display" pitchFamily="34" charset="0"/>
                <a:ea typeface="Segoe Sans Display" pitchFamily="34" charset="-122"/>
                <a:cs typeface="Segoe Sans Display" pitchFamily="34" charset="-120"/>
              </a:rPr>
              <a:t>Stable rules, retrieved through MCP</a:t>
            </a:r>
            <a:endParaRPr lang="en-US" sz="1500" dirty="0"/>
          </a:p>
        </p:txBody>
      </p:sp>
      <p:sp>
        <p:nvSpPr>
          <p:cNvPr id="4" name="Shape 2"/>
          <p:cNvSpPr/>
          <p:nvPr/>
        </p:nvSpPr>
        <p:spPr>
          <a:xfrm>
            <a:off x="393192" y="1188720"/>
            <a:ext cx="5669280" cy="3017520"/>
          </a:xfrm>
          <a:prstGeom prst="roundRect">
            <a:avLst>
              <a:gd name="adj" fmla="val 4242"/>
            </a:avLst>
          </a:prstGeom>
          <a:solidFill>
            <a:srgbClr val="262626"/>
          </a:solidFill>
          <a:ln/>
        </p:spPr>
        <p:txBody>
          <a:bodyPr/>
          <a:lstStyle/>
          <a:p>
            <a:endParaRPr lang="LID4096"/>
          </a:p>
        </p:txBody>
      </p:sp>
      <p:sp>
        <p:nvSpPr>
          <p:cNvPr id="5" name="GRADBAND_TAB"/>
          <p:cNvSpPr/>
          <p:nvPr/>
        </p:nvSpPr>
        <p:spPr>
          <a:xfrm>
            <a:off x="393192" y="1188720"/>
            <a:ext cx="5669280"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INDEXED IN FOUNDRY IQ</a:t>
            </a:r>
            <a:endParaRPr lang="en-US" sz="800" dirty="0"/>
          </a:p>
        </p:txBody>
      </p:sp>
      <p:sp>
        <p:nvSpPr>
          <p:cNvPr id="6" name="Shape 4"/>
          <p:cNvSpPr/>
          <p:nvPr/>
        </p:nvSpPr>
        <p:spPr>
          <a:xfrm>
            <a:off x="548640" y="1691640"/>
            <a:ext cx="1207008" cy="1325880"/>
          </a:xfrm>
          <a:prstGeom prst="rect">
            <a:avLst/>
          </a:prstGeom>
          <a:solidFill>
            <a:srgbClr val="3D2DB5"/>
          </a:solidFill>
          <a:ln w="9525">
            <a:solidFill>
              <a:srgbClr val="000000"/>
            </a:solidFill>
            <a:prstDash val="solid"/>
          </a:ln>
        </p:spPr>
        <p:txBody>
          <a:bodyPr/>
          <a:lstStyle/>
          <a:p>
            <a:endParaRPr lang="LID4096"/>
          </a:p>
        </p:txBody>
      </p:sp>
      <p:sp>
        <p:nvSpPr>
          <p:cNvPr id="7" name="Text 5"/>
          <p:cNvSpPr/>
          <p:nvPr/>
        </p:nvSpPr>
        <p:spPr>
          <a:xfrm>
            <a:off x="621792" y="1856232"/>
            <a:ext cx="1060704" cy="320040"/>
          </a:xfrm>
          <a:prstGeom prst="rect">
            <a:avLst/>
          </a:prstGeom>
          <a:noFill/>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Our standard</a:t>
            </a:r>
            <a:endParaRPr lang="en-US" sz="1100" dirty="0"/>
          </a:p>
        </p:txBody>
      </p:sp>
      <p:sp>
        <p:nvSpPr>
          <p:cNvPr id="8" name="Text 6"/>
          <p:cNvSpPr/>
          <p:nvPr/>
        </p:nvSpPr>
        <p:spPr>
          <a:xfrm>
            <a:off x="621792" y="2240280"/>
            <a:ext cx="1060704" cy="640080"/>
          </a:xfrm>
          <a:prstGeom prst="rect">
            <a:avLst/>
          </a:prstGeom>
          <a:noFill/>
          <a:ln/>
        </p:spPr>
        <p:txBody>
          <a:bodyPr wrap="square" lIns="0" tIns="0" rIns="0" bIns="0" rtlCol="0" anchor="t"/>
          <a:lstStyle/>
          <a:p>
            <a:pPr marL="0" indent="0" algn="ctr">
              <a:buNone/>
            </a:pPr>
            <a:r>
              <a:rPr lang="en-US" sz="950" dirty="0">
                <a:solidFill>
                  <a:srgbClr val="FEFFFE"/>
                </a:solidFill>
                <a:latin typeface="Segoe Sans Display" pitchFamily="34" charset="0"/>
                <a:ea typeface="Segoe Sans Display" pitchFamily="34" charset="-122"/>
                <a:cs typeface="Segoe Sans Display" pitchFamily="34" charset="-120"/>
              </a:rPr>
              <a:t>Documentation rules DS-10 … DS-31</a:t>
            </a:r>
            <a:endParaRPr lang="en-US" sz="950" dirty="0"/>
          </a:p>
        </p:txBody>
      </p:sp>
      <p:sp>
        <p:nvSpPr>
          <p:cNvPr id="9" name="Shape 7"/>
          <p:cNvSpPr/>
          <p:nvPr/>
        </p:nvSpPr>
        <p:spPr>
          <a:xfrm>
            <a:off x="1755648" y="2350008"/>
            <a:ext cx="146304" cy="0"/>
          </a:xfrm>
          <a:prstGeom prst="line">
            <a:avLst/>
          </a:prstGeom>
          <a:noFill/>
          <a:ln w="12700">
            <a:solidFill>
              <a:srgbClr val="A6A6A6"/>
            </a:solidFill>
            <a:prstDash val="solid"/>
          </a:ln>
        </p:spPr>
        <p:txBody>
          <a:bodyPr/>
          <a:lstStyle/>
          <a:p>
            <a:endParaRPr lang="LID4096"/>
          </a:p>
        </p:txBody>
      </p:sp>
      <p:sp>
        <p:nvSpPr>
          <p:cNvPr id="10" name="Shape 8"/>
          <p:cNvSpPr/>
          <p:nvPr/>
        </p:nvSpPr>
        <p:spPr>
          <a:xfrm>
            <a:off x="1901952" y="1691640"/>
            <a:ext cx="1207008" cy="1325880"/>
          </a:xfrm>
          <a:prstGeom prst="rect">
            <a:avLst/>
          </a:prstGeom>
          <a:solidFill>
            <a:srgbClr val="5944D4"/>
          </a:solidFill>
          <a:ln w="9525">
            <a:solidFill>
              <a:srgbClr val="000000"/>
            </a:solidFill>
            <a:prstDash val="solid"/>
          </a:ln>
        </p:spPr>
        <p:txBody>
          <a:bodyPr/>
          <a:lstStyle/>
          <a:p>
            <a:endParaRPr lang="LID4096"/>
          </a:p>
        </p:txBody>
      </p:sp>
      <p:sp>
        <p:nvSpPr>
          <p:cNvPr id="11" name="Text 9"/>
          <p:cNvSpPr/>
          <p:nvPr/>
        </p:nvSpPr>
        <p:spPr>
          <a:xfrm>
            <a:off x="1975104" y="1856232"/>
            <a:ext cx="1060704" cy="320040"/>
          </a:xfrm>
          <a:prstGeom prst="rect">
            <a:avLst/>
          </a:prstGeom>
          <a:noFill/>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Search index</a:t>
            </a:r>
            <a:endParaRPr lang="en-US" sz="1100" dirty="0"/>
          </a:p>
        </p:txBody>
      </p:sp>
      <p:sp>
        <p:nvSpPr>
          <p:cNvPr id="12" name="Text 10"/>
          <p:cNvSpPr/>
          <p:nvPr/>
        </p:nvSpPr>
        <p:spPr>
          <a:xfrm>
            <a:off x="1975104" y="2240280"/>
            <a:ext cx="1060704" cy="640080"/>
          </a:xfrm>
          <a:prstGeom prst="rect">
            <a:avLst/>
          </a:prstGeom>
          <a:noFill/>
          <a:ln/>
        </p:spPr>
        <p:txBody>
          <a:bodyPr wrap="square" lIns="0" tIns="0" rIns="0" bIns="0" rtlCol="0" anchor="t"/>
          <a:lstStyle/>
          <a:p>
            <a:pPr marL="0" indent="0" algn="ctr">
              <a:buNone/>
            </a:pPr>
            <a:r>
              <a:rPr lang="en-US" sz="950" dirty="0">
                <a:solidFill>
                  <a:srgbClr val="FEFFFE"/>
                </a:solidFill>
                <a:latin typeface="Segoe Sans Display" pitchFamily="34" charset="0"/>
                <a:ea typeface="Segoe Sans Display" pitchFamily="34" charset="-122"/>
                <a:cs typeface="Segoe Sans Display" pitchFamily="34" charset="-120"/>
              </a:rPr>
              <a:t>doc-knowledge, one document per section</a:t>
            </a:r>
            <a:endParaRPr lang="en-US" sz="950" dirty="0"/>
          </a:p>
        </p:txBody>
      </p:sp>
      <p:sp>
        <p:nvSpPr>
          <p:cNvPr id="13" name="Shape 11"/>
          <p:cNvSpPr/>
          <p:nvPr/>
        </p:nvSpPr>
        <p:spPr>
          <a:xfrm>
            <a:off x="3108960" y="2350008"/>
            <a:ext cx="146304" cy="0"/>
          </a:xfrm>
          <a:prstGeom prst="line">
            <a:avLst/>
          </a:prstGeom>
          <a:noFill/>
          <a:ln w="12700">
            <a:solidFill>
              <a:srgbClr val="A6A6A6"/>
            </a:solidFill>
            <a:prstDash val="solid"/>
          </a:ln>
        </p:spPr>
        <p:txBody>
          <a:bodyPr/>
          <a:lstStyle/>
          <a:p>
            <a:endParaRPr lang="LID4096"/>
          </a:p>
        </p:txBody>
      </p:sp>
      <p:sp>
        <p:nvSpPr>
          <p:cNvPr id="14" name="Shape 12"/>
          <p:cNvSpPr/>
          <p:nvPr/>
        </p:nvSpPr>
        <p:spPr>
          <a:xfrm>
            <a:off x="3255264" y="1691640"/>
            <a:ext cx="1207008" cy="1325880"/>
          </a:xfrm>
          <a:prstGeom prst="rect">
            <a:avLst/>
          </a:prstGeom>
          <a:solidFill>
            <a:srgbClr val="6B5BD6"/>
          </a:solidFill>
          <a:ln w="9525">
            <a:solidFill>
              <a:srgbClr val="000000"/>
            </a:solidFill>
            <a:prstDash val="solid"/>
          </a:ln>
        </p:spPr>
        <p:txBody>
          <a:bodyPr/>
          <a:lstStyle/>
          <a:p>
            <a:endParaRPr lang="LID4096"/>
          </a:p>
        </p:txBody>
      </p:sp>
      <p:sp>
        <p:nvSpPr>
          <p:cNvPr id="15" name="Text 13"/>
          <p:cNvSpPr/>
          <p:nvPr/>
        </p:nvSpPr>
        <p:spPr>
          <a:xfrm>
            <a:off x="3328416" y="1856232"/>
            <a:ext cx="1060704" cy="320040"/>
          </a:xfrm>
          <a:prstGeom prst="rect">
            <a:avLst/>
          </a:prstGeom>
          <a:noFill/>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Knowledge base</a:t>
            </a:r>
            <a:endParaRPr lang="en-US" sz="1100" dirty="0"/>
          </a:p>
        </p:txBody>
      </p:sp>
      <p:sp>
        <p:nvSpPr>
          <p:cNvPr id="16" name="Text 14"/>
          <p:cNvSpPr/>
          <p:nvPr/>
        </p:nvSpPr>
        <p:spPr>
          <a:xfrm>
            <a:off x="3328416" y="2240280"/>
            <a:ext cx="1060704" cy="640080"/>
          </a:xfrm>
          <a:prstGeom prst="rect">
            <a:avLst/>
          </a:prstGeom>
          <a:noFill/>
          <a:ln/>
        </p:spPr>
        <p:txBody>
          <a:bodyPr wrap="square" lIns="0" tIns="0" rIns="0" bIns="0" rtlCol="0" anchor="t"/>
          <a:lstStyle/>
          <a:p>
            <a:pPr marL="0" indent="0" algn="ctr">
              <a:buNone/>
            </a:pPr>
            <a:r>
              <a:rPr lang="en-US" sz="950" dirty="0">
                <a:solidFill>
                  <a:srgbClr val="FEFFFE"/>
                </a:solidFill>
                <a:latin typeface="Segoe Sans Display" pitchFamily="34" charset="0"/>
                <a:ea typeface="Segoe Sans Display" pitchFamily="34" charset="-122"/>
                <a:cs typeface="Segoe Sans Display" pitchFamily="34" charset="-120"/>
              </a:rPr>
              <a:t>kb-doc-agent, agentic retrieval</a:t>
            </a:r>
            <a:endParaRPr lang="en-US" sz="950" dirty="0"/>
          </a:p>
        </p:txBody>
      </p:sp>
      <p:sp>
        <p:nvSpPr>
          <p:cNvPr id="17" name="Shape 15"/>
          <p:cNvSpPr/>
          <p:nvPr/>
        </p:nvSpPr>
        <p:spPr>
          <a:xfrm>
            <a:off x="4462272" y="2350008"/>
            <a:ext cx="146304" cy="0"/>
          </a:xfrm>
          <a:prstGeom prst="line">
            <a:avLst/>
          </a:prstGeom>
          <a:noFill/>
          <a:ln w="12700">
            <a:solidFill>
              <a:srgbClr val="A6A6A6"/>
            </a:solidFill>
            <a:prstDash val="solid"/>
          </a:ln>
        </p:spPr>
        <p:txBody>
          <a:bodyPr/>
          <a:lstStyle/>
          <a:p>
            <a:endParaRPr lang="LID4096"/>
          </a:p>
        </p:txBody>
      </p:sp>
      <p:sp>
        <p:nvSpPr>
          <p:cNvPr id="18" name="Shape 16"/>
          <p:cNvSpPr/>
          <p:nvPr/>
        </p:nvSpPr>
        <p:spPr>
          <a:xfrm>
            <a:off x="4608576" y="1691640"/>
            <a:ext cx="1207008" cy="1325880"/>
          </a:xfrm>
          <a:prstGeom prst="rect">
            <a:avLst/>
          </a:prstGeom>
          <a:solidFill>
            <a:srgbClr val="9B8FE8"/>
          </a:solidFill>
          <a:ln w="9525">
            <a:solidFill>
              <a:srgbClr val="000000"/>
            </a:solidFill>
            <a:prstDash val="solid"/>
          </a:ln>
        </p:spPr>
        <p:txBody>
          <a:bodyPr/>
          <a:lstStyle/>
          <a:p>
            <a:endParaRPr lang="LID4096"/>
          </a:p>
        </p:txBody>
      </p:sp>
      <p:sp>
        <p:nvSpPr>
          <p:cNvPr id="19" name="Text 17"/>
          <p:cNvSpPr/>
          <p:nvPr/>
        </p:nvSpPr>
        <p:spPr>
          <a:xfrm>
            <a:off x="4681728" y="1856232"/>
            <a:ext cx="1060704" cy="320040"/>
          </a:xfrm>
          <a:prstGeom prst="rect">
            <a:avLst/>
          </a:prstGeom>
          <a:noFill/>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MCP tool</a:t>
            </a:r>
            <a:endParaRPr lang="en-US" sz="1100" dirty="0"/>
          </a:p>
        </p:txBody>
      </p:sp>
      <p:sp>
        <p:nvSpPr>
          <p:cNvPr id="20" name="Text 18"/>
          <p:cNvSpPr/>
          <p:nvPr/>
        </p:nvSpPr>
        <p:spPr>
          <a:xfrm>
            <a:off x="4681728" y="2240280"/>
            <a:ext cx="1060704" cy="640080"/>
          </a:xfrm>
          <a:prstGeom prst="rect">
            <a:avLst/>
          </a:prstGeom>
          <a:noFill/>
          <a:ln/>
        </p:spPr>
        <p:txBody>
          <a:bodyPr wrap="square" lIns="0" tIns="0" rIns="0" bIns="0" rtlCol="0" anchor="t"/>
          <a:lstStyle/>
          <a:p>
            <a:pPr marL="0" indent="0" algn="ctr">
              <a:buNone/>
            </a:pPr>
            <a:r>
              <a:rPr lang="en-US" sz="950" dirty="0">
                <a:solidFill>
                  <a:srgbClr val="FEFFFE"/>
                </a:solidFill>
                <a:latin typeface="Segoe Sans Display" pitchFamily="34" charset="0"/>
                <a:ea typeface="Segoe Sans Display" pitchFamily="34" charset="-122"/>
                <a:cs typeface="Segoe Sans Display" pitchFamily="34" charset="-120"/>
              </a:rPr>
              <a:t>The agent calls it like any other tool</a:t>
            </a:r>
            <a:endParaRPr lang="en-US" sz="950" dirty="0"/>
          </a:p>
        </p:txBody>
      </p:sp>
      <p:sp>
        <p:nvSpPr>
          <p:cNvPr id="21" name="Text 19"/>
          <p:cNvSpPr/>
          <p:nvPr/>
        </p:nvSpPr>
        <p:spPr>
          <a:xfrm>
            <a:off x="548640" y="3246120"/>
            <a:ext cx="2103120" cy="274320"/>
          </a:xfrm>
          <a:prstGeom prst="rect">
            <a:avLst/>
          </a:prstGeom>
          <a:noFill/>
          <a:ln/>
        </p:spPr>
        <p:txBody>
          <a:bodyPr wrap="square" lIns="0" tIns="0" rIns="0" bIns="0" rtlCol="0" anchor="ctr"/>
          <a:lstStyle/>
          <a:p>
            <a:pPr marL="0" indent="0">
              <a:buNone/>
            </a:pPr>
            <a:r>
              <a:rPr lang="en-US" sz="1050" dirty="0">
                <a:solidFill>
                  <a:srgbClr val="BFBFBF"/>
                </a:solidFill>
                <a:latin typeface="Segoe Sans Display" pitchFamily="34" charset="0"/>
                <a:ea typeface="Segoe Sans Display" pitchFamily="34" charset="-122"/>
                <a:cs typeface="Segoe Sans Display" pitchFamily="34" charset="-120"/>
              </a:rPr>
              <a:t>Findings cite rules by ID</a:t>
            </a:r>
            <a:endParaRPr lang="en-US" sz="1050" dirty="0"/>
          </a:p>
        </p:txBody>
      </p:sp>
      <p:sp>
        <p:nvSpPr>
          <p:cNvPr id="22" name="Text 20"/>
          <p:cNvSpPr/>
          <p:nvPr/>
        </p:nvSpPr>
        <p:spPr>
          <a:xfrm>
            <a:off x="548640" y="3611880"/>
            <a:ext cx="1600200" cy="365760"/>
          </a:xfrm>
          <a:prstGeom prst="rect">
            <a:avLst/>
          </a:prstGeom>
          <a:solidFill>
            <a:srgbClr val="1E1A30"/>
          </a:solidFill>
          <a:ln w="12700">
            <a:solidFill>
              <a:srgbClr val="5944D4"/>
            </a:solidFill>
          </a:ln>
        </p:spPr>
        <p:txBody>
          <a:bodyPr wrap="square" lIns="0" tIns="0" rIns="0" bIns="0" rtlCol="0" anchor="ctr"/>
          <a:lstStyle/>
          <a:p>
            <a:pPr marL="0" indent="0" algn="ctr">
              <a:buNone/>
            </a:pPr>
            <a:r>
              <a:rPr lang="en-US" sz="1100" dirty="0">
                <a:solidFill>
                  <a:srgbClr val="998CE4"/>
                </a:solidFill>
                <a:latin typeface="Segoe Sans Display Semibold" pitchFamily="34" charset="0"/>
                <a:ea typeface="Segoe Sans Display Semibold" pitchFamily="34" charset="-122"/>
                <a:cs typeface="Segoe Sans Display Semibold" pitchFamily="34" charset="-120"/>
              </a:rPr>
              <a:t>DS-14  </a:t>
            </a:r>
            <a:r>
              <a:rPr lang="en-US" sz="1100" dirty="0">
                <a:solidFill>
                  <a:srgbClr val="FEFFFE"/>
                </a:solidFill>
                <a:latin typeface="Segoe Sans Display" pitchFamily="34" charset="0"/>
                <a:ea typeface="Segoe Sans Display" pitchFamily="34" charset="-122"/>
                <a:cs typeface="Segoe Sans Display" pitchFamily="34" charset="-120"/>
              </a:rPr>
              <a:t>Error handling</a:t>
            </a:r>
            <a:endParaRPr lang="en-US" sz="1100" dirty="0"/>
          </a:p>
        </p:txBody>
      </p:sp>
      <p:sp>
        <p:nvSpPr>
          <p:cNvPr id="23" name="Text 21"/>
          <p:cNvSpPr/>
          <p:nvPr/>
        </p:nvSpPr>
        <p:spPr>
          <a:xfrm>
            <a:off x="2286000" y="3611880"/>
            <a:ext cx="1600200" cy="365760"/>
          </a:xfrm>
          <a:prstGeom prst="rect">
            <a:avLst/>
          </a:prstGeom>
          <a:solidFill>
            <a:srgbClr val="1E1A30"/>
          </a:solidFill>
          <a:ln w="12700">
            <a:solidFill>
              <a:srgbClr val="5944D4"/>
            </a:solidFill>
          </a:ln>
        </p:spPr>
        <p:txBody>
          <a:bodyPr wrap="square" lIns="0" tIns="0" rIns="0" bIns="0" rtlCol="0" anchor="ctr"/>
          <a:lstStyle/>
          <a:p>
            <a:pPr marL="0" indent="0" algn="ctr">
              <a:buNone/>
            </a:pPr>
            <a:r>
              <a:rPr lang="en-US" sz="1100" dirty="0">
                <a:solidFill>
                  <a:srgbClr val="998CE4"/>
                </a:solidFill>
                <a:latin typeface="Segoe Sans Display Semibold" pitchFamily="34" charset="0"/>
                <a:ea typeface="Segoe Sans Display Semibold" pitchFamily="34" charset="-122"/>
                <a:cs typeface="Segoe Sans Display Semibold" pitchFamily="34" charset="-120"/>
              </a:rPr>
              <a:t>DS-30  </a:t>
            </a:r>
            <a:r>
              <a:rPr lang="en-US" sz="1100" dirty="0">
                <a:solidFill>
                  <a:srgbClr val="FEFFFE"/>
                </a:solidFill>
                <a:latin typeface="Segoe Sans Display" pitchFamily="34" charset="0"/>
                <a:ea typeface="Segoe Sans Display" pitchFamily="34" charset="-122"/>
                <a:cs typeface="Segoe Sans Display" pitchFamily="34" charset="-120"/>
              </a:rPr>
              <a:t>Drift</a:t>
            </a:r>
            <a:endParaRPr lang="en-US" sz="1100" dirty="0"/>
          </a:p>
        </p:txBody>
      </p:sp>
      <p:sp>
        <p:nvSpPr>
          <p:cNvPr id="24" name="Shape 22"/>
          <p:cNvSpPr/>
          <p:nvPr/>
        </p:nvSpPr>
        <p:spPr>
          <a:xfrm>
            <a:off x="6217920" y="1188720"/>
            <a:ext cx="2532888" cy="3017520"/>
          </a:xfrm>
          <a:prstGeom prst="roundRect">
            <a:avLst>
              <a:gd name="adj" fmla="val 5054"/>
            </a:avLst>
          </a:prstGeom>
          <a:solidFill>
            <a:srgbClr val="262626"/>
          </a:solidFill>
          <a:ln/>
        </p:spPr>
        <p:txBody>
          <a:bodyPr/>
          <a:lstStyle/>
          <a:p>
            <a:endParaRPr lang="LID4096"/>
          </a:p>
        </p:txBody>
      </p:sp>
      <p:sp>
        <p:nvSpPr>
          <p:cNvPr id="25" name="GRADBAND_TAB"/>
          <p:cNvSpPr/>
          <p:nvPr/>
        </p:nvSpPr>
        <p:spPr>
          <a:xfrm>
            <a:off x="6217920" y="1188720"/>
            <a:ext cx="2532888"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READ LIVE THROUGH TOOLS</a:t>
            </a:r>
            <a:endParaRPr lang="en-US" sz="800" dirty="0"/>
          </a:p>
        </p:txBody>
      </p:sp>
      <p:sp>
        <p:nvSpPr>
          <p:cNvPr id="26" name="Text 24"/>
          <p:cNvSpPr/>
          <p:nvPr/>
        </p:nvSpPr>
        <p:spPr>
          <a:xfrm>
            <a:off x="6382512" y="1664208"/>
            <a:ext cx="2203704" cy="438912"/>
          </a:xfrm>
          <a:prstGeom prst="rect">
            <a:avLst/>
          </a:prstGeom>
          <a:solidFill>
            <a:srgbClr val="1E1A30"/>
          </a:solidFill>
          <a:ln w="12700">
            <a:solidFill>
              <a:srgbClr val="5944D4"/>
            </a:solidFill>
            <a:prstDash val="dash"/>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Code</a:t>
            </a:r>
            <a:endParaRPr lang="en-US" sz="1100" dirty="0"/>
          </a:p>
          <a:p>
            <a:pPr marL="0" indent="0" algn="ctr">
              <a:buNone/>
            </a:pPr>
            <a:r>
              <a:rPr lang="en-US" sz="900" dirty="0">
                <a:solidFill>
                  <a:srgbClr val="BFBFBF"/>
                </a:solidFill>
                <a:latin typeface="Segoe Sans Display" pitchFamily="34" charset="0"/>
                <a:ea typeface="Segoe Sans Display" pitchFamily="34" charset="-122"/>
                <a:cs typeface="Segoe Sans Display" pitchFamily="34" charset="-120"/>
              </a:rPr>
              <a:t>GitHub</a:t>
            </a:r>
            <a:endParaRPr lang="en-US" sz="1100" dirty="0"/>
          </a:p>
        </p:txBody>
      </p:sp>
      <p:sp>
        <p:nvSpPr>
          <p:cNvPr id="27" name="Text 25"/>
          <p:cNvSpPr/>
          <p:nvPr/>
        </p:nvSpPr>
        <p:spPr>
          <a:xfrm>
            <a:off x="6382512" y="2249424"/>
            <a:ext cx="2203704" cy="438912"/>
          </a:xfrm>
          <a:prstGeom prst="rect">
            <a:avLst/>
          </a:prstGeom>
          <a:solidFill>
            <a:srgbClr val="1E1A30"/>
          </a:solidFill>
          <a:ln w="12700">
            <a:solidFill>
              <a:srgbClr val="5944D4"/>
            </a:solidFill>
            <a:prstDash val="dash"/>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Wiki</a:t>
            </a:r>
            <a:endParaRPr lang="en-US" sz="1100" dirty="0"/>
          </a:p>
          <a:p>
            <a:pPr marL="0" indent="0" algn="ctr">
              <a:buNone/>
            </a:pPr>
            <a:r>
              <a:rPr lang="en-US" sz="900" dirty="0">
                <a:solidFill>
                  <a:srgbClr val="BFBFBF"/>
                </a:solidFill>
                <a:latin typeface="Segoe Sans Display" pitchFamily="34" charset="0"/>
                <a:ea typeface="Segoe Sans Display" pitchFamily="34" charset="-122"/>
                <a:cs typeface="Segoe Sans Display" pitchFamily="34" charset="-120"/>
              </a:rPr>
              <a:t>Azure DevOps</a:t>
            </a:r>
            <a:endParaRPr lang="en-US" sz="1100" dirty="0"/>
          </a:p>
        </p:txBody>
      </p:sp>
      <p:sp>
        <p:nvSpPr>
          <p:cNvPr id="28" name="Text 26"/>
          <p:cNvSpPr/>
          <p:nvPr/>
        </p:nvSpPr>
        <p:spPr>
          <a:xfrm>
            <a:off x="6382512" y="2834640"/>
            <a:ext cx="2203704" cy="438912"/>
          </a:xfrm>
          <a:prstGeom prst="rect">
            <a:avLst/>
          </a:prstGeom>
          <a:solidFill>
            <a:srgbClr val="1E1A30"/>
          </a:solidFill>
          <a:ln w="12700">
            <a:solidFill>
              <a:srgbClr val="5944D4"/>
            </a:solidFill>
            <a:prstDash val="dash"/>
          </a:ln>
        </p:spPr>
        <p:txBody>
          <a:bodyPr wrap="square" lIns="0" tIns="0" rIns="0" bIns="0" rtlCol="0" anchor="ctr"/>
          <a:lstStyle/>
          <a:p>
            <a:pPr marL="0" indent="0" algn="ctr">
              <a:buNone/>
            </a:pPr>
            <a:r>
              <a:rPr lang="en-US" sz="1100" dirty="0">
                <a:solidFill>
                  <a:srgbClr val="FEFFFE"/>
                </a:solidFill>
                <a:latin typeface="Segoe Sans Display Semibold" pitchFamily="34" charset="0"/>
                <a:ea typeface="Segoe Sans Display Semibold" pitchFamily="34" charset="-122"/>
                <a:cs typeface="Segoe Sans Display Semibold" pitchFamily="34" charset="-120"/>
              </a:rPr>
              <a:t>Work items</a:t>
            </a:r>
            <a:endParaRPr lang="en-US" sz="1100" dirty="0"/>
          </a:p>
          <a:p>
            <a:pPr marL="0" indent="0" algn="ctr">
              <a:buNone/>
            </a:pPr>
            <a:r>
              <a:rPr lang="en-US" sz="900" dirty="0">
                <a:solidFill>
                  <a:srgbClr val="BFBFBF"/>
                </a:solidFill>
                <a:latin typeface="Segoe Sans Display" pitchFamily="34" charset="0"/>
                <a:ea typeface="Segoe Sans Display" pitchFamily="34" charset="-122"/>
                <a:cs typeface="Segoe Sans Display" pitchFamily="34" charset="-120"/>
              </a:rPr>
              <a:t>Azure DevOps</a:t>
            </a:r>
            <a:endParaRPr lang="en-US" sz="1100" dirty="0"/>
          </a:p>
        </p:txBody>
      </p:sp>
      <p:sp>
        <p:nvSpPr>
          <p:cNvPr id="29" name="Text 27"/>
          <p:cNvSpPr/>
          <p:nvPr/>
        </p:nvSpPr>
        <p:spPr>
          <a:xfrm>
            <a:off x="6382512" y="3383280"/>
            <a:ext cx="2203704" cy="594360"/>
          </a:xfrm>
          <a:prstGeom prst="rect">
            <a:avLst/>
          </a:prstGeom>
          <a:noFill/>
          <a:ln/>
        </p:spPr>
        <p:txBody>
          <a:bodyPr wrap="square" lIns="0" tIns="0" rIns="0" bIns="0" rtlCol="0" anchor="ctr"/>
          <a:lstStyle/>
          <a:p>
            <a:pPr marL="0" indent="0" algn="ctr">
              <a:buNone/>
            </a:pPr>
            <a:r>
              <a:rPr lang="en-US" sz="1050" dirty="0">
                <a:solidFill>
                  <a:srgbClr val="BFBFBF"/>
                </a:solidFill>
                <a:latin typeface="Segoe Sans Display" pitchFamily="34" charset="0"/>
                <a:ea typeface="Segoe Sans Display" pitchFamily="34" charset="-122"/>
                <a:cs typeface="Segoe Sans Display" pitchFamily="34" charset="-120"/>
              </a:rPr>
              <a:t>Changes daily. An indexed copy would go stale.</a:t>
            </a:r>
            <a:endParaRPr lang="en-US" sz="1050" dirty="0"/>
          </a:p>
        </p:txBody>
      </p:sp>
      <p:sp>
        <p:nvSpPr>
          <p:cNvPr id="30" name="Text 28"/>
          <p:cNvSpPr/>
          <p:nvPr/>
        </p:nvSpPr>
        <p:spPr>
          <a:xfrm>
            <a:off x="393192" y="4443984"/>
            <a:ext cx="960120" cy="274320"/>
          </a:xfrm>
          <a:prstGeom prst="roundRect">
            <a:avLst>
              <a:gd name="adj" fmla="val 16667"/>
            </a:avLst>
          </a:prstGeom>
          <a:solidFill>
            <a:srgbClr val="5944D4"/>
          </a:solidFill>
          <a:ln/>
        </p:spPr>
        <p:txBody>
          <a:bodyPr wrap="square" lIns="0" tIns="0" rIns="0" bIns="0" rtlCol="0" anchor="ctr"/>
          <a:lstStyle/>
          <a:p>
            <a:pPr marL="0" indent="0" algn="ctr">
              <a:buNone/>
            </a:pPr>
            <a:r>
              <a:rPr lang="en-US" sz="800" kern="0" spc="200" dirty="0">
                <a:solidFill>
                  <a:srgbClr val="FEFFFE"/>
                </a:solidFill>
                <a:latin typeface="Segoe Sans Display Semibold" pitchFamily="34" charset="0"/>
                <a:ea typeface="Segoe Sans Display Semibold" pitchFamily="34" charset="-122"/>
                <a:cs typeface="Segoe Sans Display Semibold" pitchFamily="34" charset="-120"/>
              </a:rPr>
              <a:t>LIVE DEMO</a:t>
            </a:r>
            <a:endParaRPr lang="en-US" sz="800" dirty="0"/>
          </a:p>
        </p:txBody>
      </p:sp>
      <p:sp>
        <p:nvSpPr>
          <p:cNvPr id="31" name="Text 29"/>
          <p:cNvSpPr/>
          <p:nvPr/>
        </p:nvSpPr>
        <p:spPr>
          <a:xfrm>
            <a:off x="1481328" y="4443984"/>
            <a:ext cx="7223760" cy="274320"/>
          </a:xfrm>
          <a:prstGeom prst="rect">
            <a:avLst/>
          </a:prstGeom>
          <a:noFill/>
          <a:ln/>
        </p:spPr>
        <p:txBody>
          <a:bodyPr wrap="square" lIns="0" tIns="0" rIns="0" bIns="0" rtlCol="0" anchor="ctr"/>
          <a:lstStyle/>
          <a:p>
            <a:pPr marL="0" indent="0">
              <a:buNone/>
            </a:pPr>
            <a:r>
              <a:rPr lang="en-US" sz="1100" dirty="0">
                <a:solidFill>
                  <a:srgbClr val="FEFFFE"/>
                </a:solidFill>
                <a:latin typeface="Segoe Sans Display" pitchFamily="34" charset="0"/>
                <a:ea typeface="Segoe Sans Display" pitchFamily="34" charset="-122"/>
                <a:cs typeface="Segoe Sans Display" pitchFamily="34" charset="-120"/>
              </a:rPr>
              <a:t>demo-foundry-iq.ps1  →  DS-14 Error handling · DS-30 Drift  ·  then kb-doc-agent in the portal</a:t>
            </a:r>
            <a:endParaRPr lang="en-US" sz="1100" dirty="0"/>
          </a:p>
        </p:txBody>
      </p:sp>
      <p:sp>
        <p:nvSpPr>
          <p:cNvPr id="32" name="Title 31">
            <a:extLst>
              <a:ext uri="{FF2B5EF4-FFF2-40B4-BE49-F238E27FC236}">
                <a16:creationId xmlns:a16="http://schemas.microsoft.com/office/drawing/2014/main" id="{937237CB-6534-E42F-CE12-7F4342A7EBF4}"/>
              </a:ext>
            </a:extLst>
          </p:cNvPr>
          <p:cNvSpPr>
            <a:spLocks noGrp="1"/>
          </p:cNvSpPr>
          <p:nvPr>
            <p:ph type="title"/>
          </p:nvPr>
        </p:nvSpPr>
        <p:spPr>
          <a:xfrm>
            <a:off x="303530" y="244094"/>
            <a:ext cx="7886700" cy="420370"/>
          </a:xfrm>
        </p:spPr>
        <p:txBody>
          <a:bodyPr/>
          <a:lstStyle/>
          <a:p>
            <a:r>
              <a:rPr lang="en-GB" sz="2400"/>
              <a:t>Foundry IQ — our standard as a tool</a:t>
            </a:r>
            <a:endParaRPr lang="LID4096" sz="2400"/>
          </a:p>
        </p:txBody>
      </p:sp>
    </p:spTree>
    <p:extLst>
      <p:ext uri="{BB962C8B-B14F-4D97-AF65-F5344CB8AC3E}">
        <p14:creationId xmlns:p14="http://schemas.microsoft.com/office/powerpoint/2010/main" val="2228224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RADHERO"/>
          <p:cNvSpPr/>
          <p:nvPr/>
        </p:nvSpPr>
        <p:spPr>
          <a:xfrm>
            <a:off x="457200" y="1005840"/>
            <a:ext cx="4800600" cy="2971800"/>
          </a:xfrm>
          <a:prstGeom prst="roundRect">
            <a:avLst>
              <a:gd name="adj" fmla="val 6769"/>
            </a:avLst>
          </a:prstGeom>
          <a:gradFill>
            <a:gsLst>
              <a:gs pos="90000">
                <a:srgbClr val="7274FF"/>
              </a:gs>
              <a:gs pos="10000">
                <a:srgbClr val="0408AC"/>
              </a:gs>
            </a:gsLst>
            <a:path path="circle">
              <a:fillToRect l="100000" t="100000"/>
            </a:path>
          </a:gradFill>
          <a:ln/>
        </p:spPr>
        <p:txBody>
          <a:bodyPr/>
          <a:lstStyle/>
          <a:p>
            <a:endParaRPr lang="LID4096"/>
          </a:p>
        </p:txBody>
      </p:sp>
      <p:sp>
        <p:nvSpPr>
          <p:cNvPr id="4" name="Text 2"/>
          <p:cNvSpPr/>
          <p:nvPr/>
        </p:nvSpPr>
        <p:spPr>
          <a:xfrm>
            <a:off x="777240" y="1188720"/>
            <a:ext cx="4206240" cy="384048"/>
          </a:xfrm>
          <a:prstGeom prst="rect">
            <a:avLst/>
          </a:prstGeom>
          <a:noFill/>
          <a:ln/>
        </p:spPr>
        <p:txBody>
          <a:bodyPr wrap="square" lIns="0" tIns="0" rIns="0" bIns="0" rtlCol="0" anchor="ctr"/>
          <a:lstStyle/>
          <a:p>
            <a:pPr marL="0" indent="0">
              <a:buNone/>
            </a:pPr>
            <a:r>
              <a:rPr lang="en-US" sz="1800" dirty="0">
                <a:solidFill>
                  <a:srgbClr val="FFFFFF"/>
                </a:solidFill>
                <a:latin typeface="Segoe Sans Display" pitchFamily="34" charset="0"/>
                <a:ea typeface="Segoe Sans Display" pitchFamily="34" charset="-122"/>
                <a:cs typeface="Segoe Sans Display" pitchFamily="34" charset="-120"/>
              </a:rPr>
              <a:t>documentation-agent-readonly</a:t>
            </a:r>
            <a:endParaRPr lang="en-US" sz="1800" dirty="0"/>
          </a:p>
        </p:txBody>
      </p:sp>
      <p:sp>
        <p:nvSpPr>
          <p:cNvPr id="5" name="Text 3"/>
          <p:cNvSpPr/>
          <p:nvPr/>
        </p:nvSpPr>
        <p:spPr>
          <a:xfrm>
            <a:off x="777240" y="1572768"/>
            <a:ext cx="4206240" cy="274320"/>
          </a:xfrm>
          <a:prstGeom prst="rect">
            <a:avLst/>
          </a:prstGeom>
          <a:noFill/>
          <a:ln/>
        </p:spPr>
        <p:txBody>
          <a:bodyPr wrap="square" lIns="0" tIns="0" rIns="0" bIns="0" rtlCol="0" anchor="ctr"/>
          <a:lstStyle/>
          <a:p>
            <a:pPr marL="0" indent="0">
              <a:buNone/>
            </a:pPr>
            <a:r>
              <a:rPr lang="en-US" sz="1150" dirty="0">
                <a:solidFill>
                  <a:srgbClr val="E6E6FF"/>
                </a:solidFill>
                <a:latin typeface="Segoe Sans Display" pitchFamily="34" charset="0"/>
                <a:ea typeface="Segoe Sans Display" pitchFamily="34" charset="-122"/>
                <a:cs typeface="Segoe Sans Display" pitchFamily="34" charset="-120"/>
              </a:rPr>
              <a:t>Every assessment  ·  4 tools  ·  read only</a:t>
            </a:r>
            <a:endParaRPr lang="en-US" sz="1150" dirty="0"/>
          </a:p>
        </p:txBody>
      </p:sp>
      <p:sp>
        <p:nvSpPr>
          <p:cNvPr id="6" name="Shape 4"/>
          <p:cNvSpPr/>
          <p:nvPr/>
        </p:nvSpPr>
        <p:spPr>
          <a:xfrm>
            <a:off x="777240" y="1965960"/>
            <a:ext cx="4160520" cy="0"/>
          </a:xfrm>
          <a:prstGeom prst="line">
            <a:avLst/>
          </a:prstGeom>
          <a:noFill/>
          <a:ln w="9525">
            <a:solidFill>
              <a:srgbClr val="FFFFFF">
                <a:alpha val="55000"/>
              </a:srgbClr>
            </a:solidFill>
            <a:prstDash val="solid"/>
          </a:ln>
        </p:spPr>
        <p:txBody>
          <a:bodyPr/>
          <a:lstStyle/>
          <a:p>
            <a:endParaRPr lang="LID4096"/>
          </a:p>
        </p:txBody>
      </p:sp>
      <p:sp>
        <p:nvSpPr>
          <p:cNvPr id="7" name="Text 5"/>
          <p:cNvSpPr/>
          <p:nvPr/>
        </p:nvSpPr>
        <p:spPr>
          <a:xfrm>
            <a:off x="777240" y="2039112"/>
            <a:ext cx="1828800" cy="512064"/>
          </a:xfrm>
          <a:prstGeom prst="rect">
            <a:avLst/>
          </a:prstGeom>
          <a:noFill/>
          <a:ln/>
        </p:spPr>
        <p:txBody>
          <a:bodyPr wrap="square" lIns="0" tIns="0" rIns="0" bIns="0" rtlCol="0" anchor="ctr"/>
          <a:lstStyle/>
          <a:p>
            <a:pPr marL="0" indent="0">
              <a:buNone/>
            </a:pPr>
            <a:r>
              <a:rPr lang="en-US" sz="1600" dirty="0">
                <a:solidFill>
                  <a:srgbClr val="FFFFFF"/>
                </a:solidFill>
                <a:latin typeface="Segoe Sans Display" pitchFamily="34" charset="0"/>
                <a:ea typeface="Segoe Sans Display" pitchFamily="34" charset="-122"/>
                <a:cs typeface="Segoe Sans Display" pitchFamily="34" charset="-120"/>
              </a:rPr>
              <a:t>Foundry IQ</a:t>
            </a:r>
            <a:endParaRPr lang="en-US" sz="1600" dirty="0"/>
          </a:p>
        </p:txBody>
      </p:sp>
      <p:sp>
        <p:nvSpPr>
          <p:cNvPr id="8" name="Text 6"/>
          <p:cNvSpPr/>
          <p:nvPr/>
        </p:nvSpPr>
        <p:spPr>
          <a:xfrm>
            <a:off x="2606040" y="2039112"/>
            <a:ext cx="2331720" cy="512064"/>
          </a:xfrm>
          <a:prstGeom prst="rect">
            <a:avLst/>
          </a:prstGeom>
          <a:noFill/>
          <a:ln/>
        </p:spPr>
        <p:txBody>
          <a:bodyPr wrap="square" lIns="0" tIns="0" rIns="0" bIns="0" rtlCol="0" anchor="ctr"/>
          <a:lstStyle/>
          <a:p>
            <a:pPr marL="0" indent="0" algn="r">
              <a:buNone/>
            </a:pPr>
            <a:r>
              <a:rPr lang="en-US" sz="1100" dirty="0">
                <a:solidFill>
                  <a:srgbClr val="FFFFFF"/>
                </a:solidFill>
                <a:latin typeface="Segoe Sans Display" pitchFamily="34" charset="0"/>
                <a:ea typeface="Segoe Sans Display" pitchFamily="34" charset="-122"/>
                <a:cs typeface="Segoe Sans Display" pitchFamily="34" charset="-120"/>
              </a:rPr>
              <a:t>knowledge_base_retrieve</a:t>
            </a:r>
            <a:endParaRPr lang="en-US" sz="1100" dirty="0"/>
          </a:p>
        </p:txBody>
      </p:sp>
      <p:sp>
        <p:nvSpPr>
          <p:cNvPr id="9" name="Shape 7"/>
          <p:cNvSpPr/>
          <p:nvPr/>
        </p:nvSpPr>
        <p:spPr>
          <a:xfrm>
            <a:off x="777240" y="2587752"/>
            <a:ext cx="4160520" cy="0"/>
          </a:xfrm>
          <a:prstGeom prst="line">
            <a:avLst/>
          </a:prstGeom>
          <a:noFill/>
          <a:ln w="9525">
            <a:solidFill>
              <a:srgbClr val="FFFFFF">
                <a:alpha val="55000"/>
              </a:srgbClr>
            </a:solidFill>
            <a:prstDash val="solid"/>
          </a:ln>
        </p:spPr>
        <p:txBody>
          <a:bodyPr/>
          <a:lstStyle/>
          <a:p>
            <a:endParaRPr lang="LID4096"/>
          </a:p>
        </p:txBody>
      </p:sp>
      <p:sp>
        <p:nvSpPr>
          <p:cNvPr id="10" name="Text 8"/>
          <p:cNvSpPr/>
          <p:nvPr/>
        </p:nvSpPr>
        <p:spPr>
          <a:xfrm>
            <a:off x="777240" y="2660904"/>
            <a:ext cx="1828800" cy="512064"/>
          </a:xfrm>
          <a:prstGeom prst="rect">
            <a:avLst/>
          </a:prstGeom>
          <a:noFill/>
          <a:ln/>
        </p:spPr>
        <p:txBody>
          <a:bodyPr wrap="square" lIns="0" tIns="0" rIns="0" bIns="0" rtlCol="0" anchor="ctr"/>
          <a:lstStyle/>
          <a:p>
            <a:pPr marL="0" indent="0">
              <a:buNone/>
            </a:pPr>
            <a:r>
              <a:rPr lang="en-US" sz="1600" dirty="0">
                <a:solidFill>
                  <a:srgbClr val="FFFFFF"/>
                </a:solidFill>
                <a:latin typeface="Segoe Sans Display" pitchFamily="34" charset="0"/>
                <a:ea typeface="Segoe Sans Display" pitchFamily="34" charset="-122"/>
                <a:cs typeface="Segoe Sans Display" pitchFamily="34" charset="-120"/>
              </a:rPr>
              <a:t>GitHub</a:t>
            </a:r>
            <a:endParaRPr lang="en-US" sz="1600" dirty="0"/>
          </a:p>
        </p:txBody>
      </p:sp>
      <p:sp>
        <p:nvSpPr>
          <p:cNvPr id="11" name="Text 9"/>
          <p:cNvSpPr/>
          <p:nvPr/>
        </p:nvSpPr>
        <p:spPr>
          <a:xfrm>
            <a:off x="2606040" y="2660904"/>
            <a:ext cx="2331720" cy="512064"/>
          </a:xfrm>
          <a:prstGeom prst="rect">
            <a:avLst/>
          </a:prstGeom>
          <a:noFill/>
          <a:ln/>
        </p:spPr>
        <p:txBody>
          <a:bodyPr wrap="square" lIns="0" tIns="0" rIns="0" bIns="0" rtlCol="0" anchor="ctr"/>
          <a:lstStyle/>
          <a:p>
            <a:pPr marL="0" indent="0" algn="r">
              <a:buNone/>
            </a:pPr>
            <a:r>
              <a:rPr lang="en-US" sz="1100" dirty="0">
                <a:solidFill>
                  <a:srgbClr val="FFFFFF"/>
                </a:solidFill>
                <a:latin typeface="Segoe Sans Display" pitchFamily="34" charset="0"/>
                <a:ea typeface="Segoe Sans Display" pitchFamily="34" charset="-122"/>
                <a:cs typeface="Segoe Sans Display" pitchFamily="34" charset="-120"/>
              </a:rPr>
              <a:t>get_file_contents</a:t>
            </a:r>
            <a:endParaRPr lang="en-US" sz="1100" dirty="0"/>
          </a:p>
        </p:txBody>
      </p:sp>
      <p:sp>
        <p:nvSpPr>
          <p:cNvPr id="12" name="Shape 10"/>
          <p:cNvSpPr/>
          <p:nvPr/>
        </p:nvSpPr>
        <p:spPr>
          <a:xfrm>
            <a:off x="777240" y="3209544"/>
            <a:ext cx="4160520" cy="0"/>
          </a:xfrm>
          <a:prstGeom prst="line">
            <a:avLst/>
          </a:prstGeom>
          <a:noFill/>
          <a:ln w="9525">
            <a:solidFill>
              <a:srgbClr val="FFFFFF">
                <a:alpha val="55000"/>
              </a:srgbClr>
            </a:solidFill>
            <a:prstDash val="solid"/>
          </a:ln>
        </p:spPr>
        <p:txBody>
          <a:bodyPr/>
          <a:lstStyle/>
          <a:p>
            <a:endParaRPr lang="LID4096"/>
          </a:p>
        </p:txBody>
      </p:sp>
      <p:sp>
        <p:nvSpPr>
          <p:cNvPr id="13" name="Text 11"/>
          <p:cNvSpPr/>
          <p:nvPr/>
        </p:nvSpPr>
        <p:spPr>
          <a:xfrm>
            <a:off x="777240" y="3282696"/>
            <a:ext cx="1828800" cy="512064"/>
          </a:xfrm>
          <a:prstGeom prst="rect">
            <a:avLst/>
          </a:prstGeom>
          <a:noFill/>
          <a:ln/>
        </p:spPr>
        <p:txBody>
          <a:bodyPr wrap="square" lIns="0" tIns="0" rIns="0" bIns="0" rtlCol="0" anchor="ctr"/>
          <a:lstStyle/>
          <a:p>
            <a:pPr marL="0" indent="0">
              <a:buNone/>
            </a:pPr>
            <a:r>
              <a:rPr lang="en-US" sz="1600" dirty="0">
                <a:solidFill>
                  <a:srgbClr val="FFFFFF"/>
                </a:solidFill>
                <a:latin typeface="Segoe Sans Display" pitchFamily="34" charset="0"/>
                <a:ea typeface="Segoe Sans Display" pitchFamily="34" charset="-122"/>
                <a:cs typeface="Segoe Sans Display" pitchFamily="34" charset="-120"/>
              </a:rPr>
              <a:t>Azure DevOps</a:t>
            </a:r>
            <a:endParaRPr lang="en-US" sz="1600" dirty="0"/>
          </a:p>
        </p:txBody>
      </p:sp>
      <p:sp>
        <p:nvSpPr>
          <p:cNvPr id="14" name="Text 12"/>
          <p:cNvSpPr/>
          <p:nvPr/>
        </p:nvSpPr>
        <p:spPr>
          <a:xfrm>
            <a:off x="2606040" y="3282696"/>
            <a:ext cx="2331720" cy="512064"/>
          </a:xfrm>
          <a:prstGeom prst="rect">
            <a:avLst/>
          </a:prstGeom>
          <a:noFill/>
          <a:ln/>
        </p:spPr>
        <p:txBody>
          <a:bodyPr wrap="square" lIns="0" tIns="0" rIns="0" bIns="0" rtlCol="0" anchor="ctr"/>
          <a:lstStyle/>
          <a:p>
            <a:pPr marL="0" indent="0" algn="r">
              <a:buNone/>
            </a:pPr>
            <a:r>
              <a:rPr lang="en-US" sz="1100" dirty="0">
                <a:solidFill>
                  <a:srgbClr val="FFFFFF"/>
                </a:solidFill>
                <a:latin typeface="Segoe Sans Display" pitchFamily="34" charset="0"/>
                <a:ea typeface="Segoe Sans Display" pitchFamily="34" charset="-122"/>
                <a:cs typeface="Segoe Sans Display" pitchFamily="34" charset="-120"/>
              </a:rPr>
              <a:t>wiki  ·  wit_work_item</a:t>
            </a:r>
            <a:endParaRPr lang="en-US" sz="1100" dirty="0"/>
          </a:p>
        </p:txBody>
      </p:sp>
      <p:sp>
        <p:nvSpPr>
          <p:cNvPr id="15" name="Shape 13"/>
          <p:cNvSpPr/>
          <p:nvPr/>
        </p:nvSpPr>
        <p:spPr>
          <a:xfrm>
            <a:off x="5486400" y="1005840"/>
            <a:ext cx="3200400" cy="2971800"/>
          </a:xfrm>
          <a:prstGeom prst="roundRect">
            <a:avLst>
              <a:gd name="adj" fmla="val 4923"/>
            </a:avLst>
          </a:prstGeom>
          <a:solidFill>
            <a:srgbClr val="D9D9D9">
              <a:alpha val="49000"/>
            </a:srgbClr>
          </a:solidFill>
          <a:ln w="25400">
            <a:solidFill>
              <a:srgbClr val="FFFFFF"/>
            </a:solidFill>
            <a:prstDash val="solid"/>
          </a:ln>
        </p:spPr>
        <p:txBody>
          <a:bodyPr/>
          <a:lstStyle/>
          <a:p>
            <a:endParaRPr lang="LID4096"/>
          </a:p>
        </p:txBody>
      </p:sp>
      <p:sp>
        <p:nvSpPr>
          <p:cNvPr id="16" name="Text 14"/>
          <p:cNvSpPr/>
          <p:nvPr/>
        </p:nvSpPr>
        <p:spPr>
          <a:xfrm>
            <a:off x="5760720" y="1188720"/>
            <a:ext cx="2743200" cy="365760"/>
          </a:xfrm>
          <a:prstGeom prst="rect">
            <a:avLst/>
          </a:prstGeom>
          <a:noFill/>
          <a:ln/>
        </p:spPr>
        <p:txBody>
          <a:bodyPr wrap="square" lIns="0" tIns="0" rIns="0" bIns="0" rtlCol="0" anchor="ctr"/>
          <a:lstStyle/>
          <a:p>
            <a:pPr marL="0" indent="0">
              <a:buNone/>
            </a:pPr>
            <a:r>
              <a:rPr lang="en-US" sz="1500" dirty="0">
                <a:solidFill>
                  <a:srgbClr val="000000"/>
                </a:solidFill>
                <a:latin typeface="Segoe Sans Display" pitchFamily="34" charset="0"/>
                <a:ea typeface="Segoe Sans Display" pitchFamily="34" charset="-122"/>
                <a:cs typeface="Segoe Sans Display" pitchFamily="34" charset="-120"/>
              </a:rPr>
              <a:t>documentation-agent-write</a:t>
            </a:r>
            <a:endParaRPr lang="en-US" sz="1500" dirty="0"/>
          </a:p>
        </p:txBody>
      </p:sp>
      <p:sp>
        <p:nvSpPr>
          <p:cNvPr id="17" name="Text 15"/>
          <p:cNvSpPr/>
          <p:nvPr/>
        </p:nvSpPr>
        <p:spPr>
          <a:xfrm>
            <a:off x="5760720" y="1554480"/>
            <a:ext cx="2743200" cy="274320"/>
          </a:xfrm>
          <a:prstGeom prst="rect">
            <a:avLst/>
          </a:prstGeom>
          <a:noFill/>
          <a:ln/>
        </p:spPr>
        <p:txBody>
          <a:bodyPr wrap="square" lIns="0" tIns="0" rIns="0" bIns="0" rtlCol="0" anchor="ctr"/>
          <a:lstStyle/>
          <a:p>
            <a:pPr marL="0" indent="0">
              <a:buNone/>
            </a:pPr>
            <a:r>
              <a:rPr lang="en-US" sz="1150" dirty="0">
                <a:solidFill>
                  <a:srgbClr val="0408AC"/>
                </a:solidFill>
                <a:latin typeface="Segoe Sans Display" pitchFamily="34" charset="0"/>
                <a:ea typeface="Segoe Sans Display" pitchFamily="34" charset="-122"/>
                <a:cs typeface="Segoe Sans Display" pitchFamily="34" charset="-120"/>
              </a:rPr>
              <a:t>1 tool  ·  wiki_upsert_page</a:t>
            </a:r>
            <a:endParaRPr lang="en-US" sz="1150" dirty="0"/>
          </a:p>
        </p:txBody>
      </p:sp>
      <p:sp>
        <p:nvSpPr>
          <p:cNvPr id="18" name="Shape 16"/>
          <p:cNvSpPr/>
          <p:nvPr/>
        </p:nvSpPr>
        <p:spPr>
          <a:xfrm>
            <a:off x="5943600" y="2331720"/>
            <a:ext cx="0" cy="1280160"/>
          </a:xfrm>
          <a:prstGeom prst="line">
            <a:avLst/>
          </a:prstGeom>
          <a:noFill/>
          <a:ln w="15875">
            <a:solidFill>
              <a:srgbClr val="0408AC"/>
            </a:solidFill>
            <a:prstDash val="solid"/>
          </a:ln>
        </p:spPr>
        <p:txBody>
          <a:bodyPr/>
          <a:lstStyle/>
          <a:p>
            <a:endParaRPr lang="LID4096"/>
          </a:p>
        </p:txBody>
      </p:sp>
      <p:sp>
        <p:nvSpPr>
          <p:cNvPr id="19" name="Text 17"/>
          <p:cNvSpPr/>
          <p:nvPr/>
        </p:nvSpPr>
        <p:spPr>
          <a:xfrm>
            <a:off x="5806440" y="2194560"/>
            <a:ext cx="274320" cy="274320"/>
          </a:xfrm>
          <a:prstGeom prst="ellipse">
            <a:avLst/>
          </a:prstGeom>
          <a:solidFill>
            <a:srgbClr val="0408AC"/>
          </a:solidFill>
          <a:ln/>
        </p:spPr>
        <p:txBody>
          <a:bodyPr wrap="square" lIns="0" tIns="0" rIns="0" bIns="0" rtlCol="0" anchor="ctr"/>
          <a:lstStyle/>
          <a:p>
            <a:pPr marL="0" indent="0" algn="ctr">
              <a:buNone/>
            </a:pPr>
            <a:r>
              <a:rPr lang="en-US" sz="1000" dirty="0">
                <a:solidFill>
                  <a:srgbClr val="FFFFFF"/>
                </a:solidFill>
                <a:latin typeface="Segoe Sans Display Semibold" pitchFamily="34" charset="0"/>
                <a:ea typeface="Segoe Sans Display Semibold" pitchFamily="34" charset="-122"/>
                <a:cs typeface="Segoe Sans Display Semibold" pitchFamily="34" charset="-120"/>
              </a:rPr>
              <a:t>1</a:t>
            </a:r>
            <a:endParaRPr lang="en-US" sz="1000" dirty="0"/>
          </a:p>
        </p:txBody>
      </p:sp>
      <p:sp>
        <p:nvSpPr>
          <p:cNvPr id="20" name="Text 18"/>
          <p:cNvSpPr/>
          <p:nvPr/>
        </p:nvSpPr>
        <p:spPr>
          <a:xfrm>
            <a:off x="6217920" y="2148840"/>
            <a:ext cx="2331720" cy="365760"/>
          </a:xfrm>
          <a:prstGeom prst="rect">
            <a:avLst/>
          </a:prstGeom>
          <a:noFill/>
          <a:ln/>
        </p:spPr>
        <p:txBody>
          <a:bodyPr wrap="square" lIns="0" tIns="0" rIns="0" bIns="0" rtlCol="0" anchor="ctr"/>
          <a:lstStyle/>
          <a:p>
            <a:pPr marL="0" indent="0">
              <a:buNone/>
            </a:pPr>
            <a:r>
              <a:rPr lang="en-US" sz="1250" dirty="0">
                <a:solidFill>
                  <a:srgbClr val="000000"/>
                </a:solidFill>
                <a:latin typeface="Segoe Sans Display" pitchFamily="34" charset="0"/>
                <a:ea typeface="Segoe Sans Display" pitchFamily="34" charset="-122"/>
                <a:cs typeface="Segoe Sans Display" pitchFamily="34" charset="-120"/>
              </a:rPr>
              <a:t>Teams approval card</a:t>
            </a:r>
            <a:endParaRPr lang="en-US" sz="1250" dirty="0"/>
          </a:p>
        </p:txBody>
      </p:sp>
      <p:sp>
        <p:nvSpPr>
          <p:cNvPr id="21" name="Text 19"/>
          <p:cNvSpPr/>
          <p:nvPr/>
        </p:nvSpPr>
        <p:spPr>
          <a:xfrm>
            <a:off x="5806440" y="2834640"/>
            <a:ext cx="274320" cy="274320"/>
          </a:xfrm>
          <a:prstGeom prst="ellipse">
            <a:avLst/>
          </a:prstGeom>
          <a:solidFill>
            <a:srgbClr val="0408AC"/>
          </a:solidFill>
          <a:ln/>
        </p:spPr>
        <p:txBody>
          <a:bodyPr wrap="square" lIns="0" tIns="0" rIns="0" bIns="0" rtlCol="0" anchor="ctr"/>
          <a:lstStyle/>
          <a:p>
            <a:pPr marL="0" indent="0" algn="ctr">
              <a:buNone/>
            </a:pPr>
            <a:r>
              <a:rPr lang="en-US" sz="1000" dirty="0">
                <a:solidFill>
                  <a:srgbClr val="FFFFFF"/>
                </a:solidFill>
                <a:latin typeface="Segoe Sans Display Semibold" pitchFamily="34" charset="0"/>
                <a:ea typeface="Segoe Sans Display Semibold" pitchFamily="34" charset="-122"/>
                <a:cs typeface="Segoe Sans Display Semibold" pitchFamily="34" charset="-120"/>
              </a:rPr>
              <a:t>2</a:t>
            </a:r>
            <a:endParaRPr lang="en-US" sz="1000" dirty="0"/>
          </a:p>
        </p:txBody>
      </p:sp>
      <p:sp>
        <p:nvSpPr>
          <p:cNvPr id="22" name="Text 20"/>
          <p:cNvSpPr/>
          <p:nvPr/>
        </p:nvSpPr>
        <p:spPr>
          <a:xfrm>
            <a:off x="6217920" y="2788920"/>
            <a:ext cx="2331720" cy="365760"/>
          </a:xfrm>
          <a:prstGeom prst="rect">
            <a:avLst/>
          </a:prstGeom>
          <a:noFill/>
          <a:ln/>
        </p:spPr>
        <p:txBody>
          <a:bodyPr wrap="square" lIns="0" tIns="0" rIns="0" bIns="0" rtlCol="0" anchor="ctr"/>
          <a:lstStyle/>
          <a:p>
            <a:pPr marL="0" indent="0">
              <a:buNone/>
            </a:pPr>
            <a:r>
              <a:rPr lang="en-US" sz="1250" dirty="0">
                <a:solidFill>
                  <a:srgbClr val="000000"/>
                </a:solidFill>
                <a:latin typeface="Segoe Sans Display" pitchFamily="34" charset="0"/>
                <a:ea typeface="Segoe Sans Display" pitchFamily="34" charset="-122"/>
                <a:cs typeface="Segoe Sans Display" pitchFamily="34" charset="-120"/>
              </a:rPr>
              <a:t>A person clicks Approve</a:t>
            </a:r>
            <a:endParaRPr lang="en-US" sz="1250" dirty="0"/>
          </a:p>
        </p:txBody>
      </p:sp>
      <p:sp>
        <p:nvSpPr>
          <p:cNvPr id="23" name="Text 21"/>
          <p:cNvSpPr/>
          <p:nvPr/>
        </p:nvSpPr>
        <p:spPr>
          <a:xfrm>
            <a:off x="5806440" y="3474720"/>
            <a:ext cx="274320" cy="274320"/>
          </a:xfrm>
          <a:prstGeom prst="ellipse">
            <a:avLst/>
          </a:prstGeom>
          <a:solidFill>
            <a:srgbClr val="0408AC"/>
          </a:solidFill>
          <a:ln/>
        </p:spPr>
        <p:txBody>
          <a:bodyPr wrap="square" lIns="0" tIns="0" rIns="0" bIns="0" rtlCol="0" anchor="ctr"/>
          <a:lstStyle/>
          <a:p>
            <a:pPr marL="0" indent="0" algn="ctr">
              <a:buNone/>
            </a:pPr>
            <a:r>
              <a:rPr lang="en-US" sz="1000" dirty="0">
                <a:solidFill>
                  <a:srgbClr val="FFFFFF"/>
                </a:solidFill>
                <a:latin typeface="Segoe Sans Display Semibold" pitchFamily="34" charset="0"/>
                <a:ea typeface="Segoe Sans Display Semibold" pitchFamily="34" charset="-122"/>
                <a:cs typeface="Segoe Sans Display Semibold" pitchFamily="34" charset="-120"/>
              </a:rPr>
              <a:t>3</a:t>
            </a:r>
            <a:endParaRPr lang="en-US" sz="1000" dirty="0"/>
          </a:p>
        </p:txBody>
      </p:sp>
      <p:sp>
        <p:nvSpPr>
          <p:cNvPr id="24" name="Text 22"/>
          <p:cNvSpPr/>
          <p:nvPr/>
        </p:nvSpPr>
        <p:spPr>
          <a:xfrm>
            <a:off x="6217920" y="3429000"/>
            <a:ext cx="2331720" cy="365760"/>
          </a:xfrm>
          <a:prstGeom prst="rect">
            <a:avLst/>
          </a:prstGeom>
          <a:noFill/>
          <a:ln/>
        </p:spPr>
        <p:txBody>
          <a:bodyPr wrap="square" lIns="0" tIns="0" rIns="0" bIns="0" rtlCol="0" anchor="ctr"/>
          <a:lstStyle/>
          <a:p>
            <a:pPr marL="0" indent="0">
              <a:buNone/>
            </a:pPr>
            <a:r>
              <a:rPr lang="en-US" sz="1250" dirty="0">
                <a:solidFill>
                  <a:srgbClr val="000000"/>
                </a:solidFill>
                <a:latin typeface="Segoe Sans Display" pitchFamily="34" charset="0"/>
                <a:ea typeface="Segoe Sans Display" pitchFamily="34" charset="-122"/>
                <a:cs typeface="Segoe Sans Display" pitchFamily="34" charset="-120"/>
              </a:rPr>
              <a:t>Wiki write as the agent user</a:t>
            </a:r>
            <a:endParaRPr lang="en-US" sz="1250" dirty="0"/>
          </a:p>
        </p:txBody>
      </p:sp>
      <p:sp>
        <p:nvSpPr>
          <p:cNvPr id="25" name="Text 23"/>
          <p:cNvSpPr/>
          <p:nvPr/>
        </p:nvSpPr>
        <p:spPr>
          <a:xfrm>
            <a:off x="457200" y="4087368"/>
            <a:ext cx="8229600" cy="274320"/>
          </a:xfrm>
          <a:prstGeom prst="rect">
            <a:avLst/>
          </a:prstGeom>
          <a:noFill/>
          <a:ln/>
        </p:spPr>
        <p:txBody>
          <a:bodyPr wrap="square" lIns="0" tIns="0" rIns="0" bIns="0" rtlCol="0" anchor="ctr"/>
          <a:lstStyle/>
          <a:p>
            <a:pPr marL="0" indent="0" algn="ctr">
              <a:buNone/>
            </a:pPr>
            <a:r>
              <a:rPr lang="en-US" sz="1200" dirty="0">
                <a:solidFill>
                  <a:srgbClr val="0408AC"/>
                </a:solidFill>
                <a:latin typeface="Segoe Sans Display" pitchFamily="34" charset="0"/>
                <a:ea typeface="Segoe Sans Display" pitchFamily="34" charset="-122"/>
                <a:cs typeface="Segoe Sans Display" pitchFamily="34" charset="-120"/>
              </a:rPr>
              <a:t>The agent version pins the toolbox version, so a tool change is a new, testable release.</a:t>
            </a:r>
            <a:endParaRPr lang="en-US" sz="1200" dirty="0"/>
          </a:p>
        </p:txBody>
      </p:sp>
      <p:sp>
        <p:nvSpPr>
          <p:cNvPr id="26" name="Text 24"/>
          <p:cNvSpPr/>
          <p:nvPr/>
        </p:nvSpPr>
        <p:spPr>
          <a:xfrm>
            <a:off x="457200" y="4507992"/>
            <a:ext cx="960120" cy="274320"/>
          </a:xfrm>
          <a:prstGeom prst="roundRect">
            <a:avLst>
              <a:gd name="adj" fmla="val 16667"/>
            </a:avLst>
          </a:prstGeom>
          <a:solidFill>
            <a:srgbClr val="0408AC"/>
          </a:solidFill>
          <a:ln/>
        </p:spPr>
        <p:txBody>
          <a:bodyPr wrap="square" lIns="0" tIns="0" rIns="0" bIns="0" rtlCol="0" anchor="ctr"/>
          <a:lstStyle/>
          <a:p>
            <a:pPr marL="0" indent="0" algn="ctr">
              <a:buNone/>
            </a:pPr>
            <a:r>
              <a:rPr lang="en-US" sz="800" kern="0" spc="200" dirty="0">
                <a:solidFill>
                  <a:srgbClr val="FFFFFF"/>
                </a:solidFill>
                <a:latin typeface="Segoe Sans Display Semibold" pitchFamily="34" charset="0"/>
                <a:ea typeface="Segoe Sans Display Semibold" pitchFamily="34" charset="-122"/>
                <a:cs typeface="Segoe Sans Display Semibold" pitchFamily="34" charset="-120"/>
              </a:rPr>
              <a:t>LIVE DEMO</a:t>
            </a:r>
            <a:endParaRPr lang="en-US" sz="800" dirty="0"/>
          </a:p>
        </p:txBody>
      </p:sp>
      <p:sp>
        <p:nvSpPr>
          <p:cNvPr id="27" name="Text 25"/>
          <p:cNvSpPr/>
          <p:nvPr/>
        </p:nvSpPr>
        <p:spPr>
          <a:xfrm>
            <a:off x="1536192" y="4507992"/>
            <a:ext cx="7132320" cy="274320"/>
          </a:xfrm>
          <a:prstGeom prst="rect">
            <a:avLst/>
          </a:prstGeom>
          <a:noFill/>
          <a:ln/>
        </p:spPr>
        <p:txBody>
          <a:bodyPr wrap="square" lIns="0" tIns="0" rIns="0" bIns="0" rtlCol="0" anchor="ctr"/>
          <a:lstStyle/>
          <a:p>
            <a:pPr marL="0" indent="0">
              <a:buNone/>
            </a:pPr>
            <a:r>
              <a:rPr lang="en-US" sz="1100" dirty="0">
                <a:solidFill>
                  <a:srgbClr val="262626"/>
                </a:solidFill>
                <a:latin typeface="Segoe Sans Display" pitchFamily="34" charset="0"/>
                <a:ea typeface="Segoe Sans Display" pitchFamily="34" charset="-122"/>
                <a:cs typeface="Segoe Sans Display" pitchFamily="34" charset="-120"/>
              </a:rPr>
              <a:t>demo-toolbox.ps1  ·  assess PR #62  →  gaps_found, pinned evidence</a:t>
            </a:r>
            <a:endParaRPr lang="en-US" sz="1100" dirty="0"/>
          </a:p>
        </p:txBody>
      </p:sp>
      <p:sp>
        <p:nvSpPr>
          <p:cNvPr id="28" name="Title 27">
            <a:extLst>
              <a:ext uri="{FF2B5EF4-FFF2-40B4-BE49-F238E27FC236}">
                <a16:creationId xmlns:a16="http://schemas.microsoft.com/office/drawing/2014/main" id="{EAEB59E7-DDC7-72E3-9DC1-63BCBDDFD405}"/>
              </a:ext>
            </a:extLst>
          </p:cNvPr>
          <p:cNvSpPr>
            <a:spLocks noGrp="1"/>
          </p:cNvSpPr>
          <p:nvPr>
            <p:ph type="title"/>
          </p:nvPr>
        </p:nvSpPr>
        <p:spPr/>
        <p:txBody>
          <a:bodyPr/>
          <a:lstStyle/>
          <a:p>
            <a:r>
              <a:rPr lang="en-GB"/>
              <a:t>Two toolboxes, one per job</a:t>
            </a:r>
            <a:endParaRPr lang="LID4096"/>
          </a:p>
        </p:txBody>
      </p:sp>
    </p:spTree>
    <p:extLst>
      <p:ext uri="{BB962C8B-B14F-4D97-AF65-F5344CB8AC3E}">
        <p14:creationId xmlns:p14="http://schemas.microsoft.com/office/powerpoint/2010/main" val="239830553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1"/>
          <p:cNvSpPr/>
          <p:nvPr/>
        </p:nvSpPr>
        <p:spPr>
          <a:xfrm>
            <a:off x="457200" y="1005840"/>
            <a:ext cx="1828800" cy="1280160"/>
          </a:xfrm>
          <a:prstGeom prst="roundRect">
            <a:avLst>
              <a:gd name="adj" fmla="val 10000"/>
            </a:avLst>
          </a:prstGeom>
          <a:solidFill>
            <a:srgbClr val="D9D9D9">
              <a:alpha val="49000"/>
            </a:srgbClr>
          </a:solidFill>
          <a:ln w="25400">
            <a:solidFill>
              <a:srgbClr val="FFFFFF"/>
            </a:solidFill>
            <a:prstDash val="solid"/>
          </a:ln>
        </p:spPr>
        <p:txBody>
          <a:bodyPr/>
          <a:lstStyle/>
          <a:p>
            <a:endParaRPr lang="LID4096"/>
          </a:p>
        </p:txBody>
      </p:sp>
      <p:sp>
        <p:nvSpPr>
          <p:cNvPr id="4" name="Text 2"/>
          <p:cNvSpPr/>
          <p:nvPr/>
        </p:nvSpPr>
        <p:spPr>
          <a:xfrm>
            <a:off x="594360" y="1143000"/>
            <a:ext cx="1554480" cy="329184"/>
          </a:xfrm>
          <a:prstGeom prst="rect">
            <a:avLst/>
          </a:prstGeom>
          <a:noFill/>
          <a:ln/>
        </p:spPr>
        <p:txBody>
          <a:bodyPr wrap="square" lIns="0" tIns="0" rIns="0" bIns="0" rtlCol="0" anchor="ctr"/>
          <a:lstStyle/>
          <a:p>
            <a:pPr marL="0" indent="0">
              <a:buNone/>
            </a:pPr>
            <a:r>
              <a:rPr lang="en-US" sz="1400" dirty="0">
                <a:solidFill>
                  <a:srgbClr val="000000"/>
                </a:solidFill>
                <a:latin typeface="Segoe Sans Display" pitchFamily="34" charset="0"/>
                <a:ea typeface="Segoe Sans Display" pitchFamily="34" charset="-122"/>
                <a:cs typeface="Segoe Sans Display" pitchFamily="34" charset="-120"/>
              </a:rPr>
              <a:t>Agent identity</a:t>
            </a:r>
            <a:endParaRPr lang="en-US" sz="1400" dirty="0"/>
          </a:p>
        </p:txBody>
      </p:sp>
      <p:sp>
        <p:nvSpPr>
          <p:cNvPr id="5" name="Text 3"/>
          <p:cNvSpPr/>
          <p:nvPr/>
        </p:nvSpPr>
        <p:spPr>
          <a:xfrm>
            <a:off x="594360" y="1508760"/>
            <a:ext cx="1554480" cy="685800"/>
          </a:xfrm>
          <a:prstGeom prst="rect">
            <a:avLst/>
          </a:prstGeom>
          <a:noFill/>
          <a:ln/>
        </p:spPr>
        <p:txBody>
          <a:bodyPr wrap="square" lIns="0" tIns="0" rIns="0" bIns="0" rtlCol="0" anchor="t"/>
          <a:lstStyle/>
          <a:p>
            <a:pPr marL="0" indent="0">
              <a:buNone/>
            </a:pPr>
            <a:r>
              <a:rPr lang="en-US" sz="1050" dirty="0">
                <a:solidFill>
                  <a:srgbClr val="262626"/>
                </a:solidFill>
                <a:latin typeface="Segoe Sans Display" pitchFamily="34" charset="0"/>
                <a:ea typeface="Segoe Sans Display" pitchFamily="34" charset="-122"/>
                <a:cs typeface="Segoe Sans Display" pitchFamily="34" charset="-120"/>
              </a:rPr>
              <a:t>Entra Agent ID, created with the Foundry agent</a:t>
            </a:r>
            <a:endParaRPr lang="en-US" sz="1050" dirty="0"/>
          </a:p>
        </p:txBody>
      </p:sp>
      <p:sp>
        <p:nvSpPr>
          <p:cNvPr id="6" name="Shape 4"/>
          <p:cNvSpPr/>
          <p:nvPr/>
        </p:nvSpPr>
        <p:spPr>
          <a:xfrm>
            <a:off x="2322576" y="1645920"/>
            <a:ext cx="228600" cy="0"/>
          </a:xfrm>
          <a:prstGeom prst="line">
            <a:avLst/>
          </a:prstGeom>
          <a:noFill/>
          <a:ln w="15875">
            <a:solidFill>
              <a:srgbClr val="0408AC"/>
            </a:solidFill>
            <a:prstDash val="solid"/>
          </a:ln>
        </p:spPr>
        <p:txBody>
          <a:bodyPr/>
          <a:lstStyle/>
          <a:p>
            <a:endParaRPr lang="LID4096"/>
          </a:p>
        </p:txBody>
      </p:sp>
      <p:sp>
        <p:nvSpPr>
          <p:cNvPr id="7" name="Shape 5"/>
          <p:cNvSpPr/>
          <p:nvPr/>
        </p:nvSpPr>
        <p:spPr>
          <a:xfrm>
            <a:off x="2510028" y="1604772"/>
            <a:ext cx="82296" cy="82296"/>
          </a:xfrm>
          <a:prstGeom prst="ellipse">
            <a:avLst/>
          </a:prstGeom>
          <a:solidFill>
            <a:srgbClr val="0408AC"/>
          </a:solidFill>
          <a:ln/>
        </p:spPr>
        <p:txBody>
          <a:bodyPr/>
          <a:lstStyle/>
          <a:p>
            <a:endParaRPr lang="LID4096"/>
          </a:p>
        </p:txBody>
      </p:sp>
      <p:sp>
        <p:nvSpPr>
          <p:cNvPr id="8" name="Shape 6"/>
          <p:cNvSpPr/>
          <p:nvPr/>
        </p:nvSpPr>
        <p:spPr>
          <a:xfrm>
            <a:off x="2587752" y="1005840"/>
            <a:ext cx="1828800" cy="1280160"/>
          </a:xfrm>
          <a:prstGeom prst="roundRect">
            <a:avLst>
              <a:gd name="adj" fmla="val 10000"/>
            </a:avLst>
          </a:prstGeom>
          <a:solidFill>
            <a:srgbClr val="D9D9D9">
              <a:alpha val="49000"/>
            </a:srgbClr>
          </a:solidFill>
          <a:ln w="25400">
            <a:solidFill>
              <a:srgbClr val="FFFFFF"/>
            </a:solidFill>
            <a:prstDash val="solid"/>
          </a:ln>
        </p:spPr>
        <p:txBody>
          <a:bodyPr/>
          <a:lstStyle/>
          <a:p>
            <a:endParaRPr lang="LID4096"/>
          </a:p>
        </p:txBody>
      </p:sp>
      <p:sp>
        <p:nvSpPr>
          <p:cNvPr id="9" name="Text 7"/>
          <p:cNvSpPr/>
          <p:nvPr/>
        </p:nvSpPr>
        <p:spPr>
          <a:xfrm>
            <a:off x="2724912" y="1143000"/>
            <a:ext cx="1554480" cy="329184"/>
          </a:xfrm>
          <a:prstGeom prst="rect">
            <a:avLst/>
          </a:prstGeom>
          <a:noFill/>
          <a:ln/>
        </p:spPr>
        <p:txBody>
          <a:bodyPr wrap="square" lIns="0" tIns="0" rIns="0" bIns="0" rtlCol="0" anchor="ctr"/>
          <a:lstStyle/>
          <a:p>
            <a:pPr marL="0" indent="0">
              <a:buNone/>
            </a:pPr>
            <a:r>
              <a:rPr lang="en-US" sz="1400" dirty="0">
                <a:solidFill>
                  <a:srgbClr val="000000"/>
                </a:solidFill>
                <a:latin typeface="Segoe Sans Display" pitchFamily="34" charset="0"/>
                <a:ea typeface="Segoe Sans Display" pitchFamily="34" charset="-122"/>
                <a:cs typeface="Segoe Sans Display" pitchFamily="34" charset="-120"/>
              </a:rPr>
              <a:t>Gateway exchange</a:t>
            </a:r>
            <a:endParaRPr lang="en-US" sz="1400" dirty="0"/>
          </a:p>
        </p:txBody>
      </p:sp>
      <p:sp>
        <p:nvSpPr>
          <p:cNvPr id="10" name="Text 8"/>
          <p:cNvSpPr/>
          <p:nvPr/>
        </p:nvSpPr>
        <p:spPr>
          <a:xfrm>
            <a:off x="2724912" y="1508760"/>
            <a:ext cx="1554480" cy="685800"/>
          </a:xfrm>
          <a:prstGeom prst="rect">
            <a:avLst/>
          </a:prstGeom>
          <a:noFill/>
          <a:ln/>
        </p:spPr>
        <p:txBody>
          <a:bodyPr wrap="square" lIns="0" tIns="0" rIns="0" bIns="0" rtlCol="0" anchor="t"/>
          <a:lstStyle/>
          <a:p>
            <a:pPr marL="0" indent="0">
              <a:buNone/>
            </a:pPr>
            <a:r>
              <a:rPr lang="en-US" sz="1050" dirty="0">
                <a:solidFill>
                  <a:srgbClr val="262626"/>
                </a:solidFill>
                <a:latin typeface="Segoe Sans Display" pitchFamily="34" charset="0"/>
                <a:ea typeface="Segoe Sans Display" pitchFamily="34" charset="-122"/>
                <a:cs typeface="Segoe Sans Display" pitchFamily="34" charset="-120"/>
              </a:rPr>
              <a:t>Managed identity → blueprint → agent identity</a:t>
            </a:r>
            <a:endParaRPr lang="en-US" sz="1050" dirty="0"/>
          </a:p>
        </p:txBody>
      </p:sp>
      <p:sp>
        <p:nvSpPr>
          <p:cNvPr id="11" name="Shape 9"/>
          <p:cNvSpPr/>
          <p:nvPr/>
        </p:nvSpPr>
        <p:spPr>
          <a:xfrm>
            <a:off x="4453128" y="1645920"/>
            <a:ext cx="228600" cy="0"/>
          </a:xfrm>
          <a:prstGeom prst="line">
            <a:avLst/>
          </a:prstGeom>
          <a:noFill/>
          <a:ln w="15875">
            <a:solidFill>
              <a:srgbClr val="0408AC"/>
            </a:solidFill>
            <a:prstDash val="solid"/>
          </a:ln>
        </p:spPr>
        <p:txBody>
          <a:bodyPr/>
          <a:lstStyle/>
          <a:p>
            <a:endParaRPr lang="LID4096"/>
          </a:p>
        </p:txBody>
      </p:sp>
      <p:sp>
        <p:nvSpPr>
          <p:cNvPr id="12" name="Shape 10"/>
          <p:cNvSpPr/>
          <p:nvPr/>
        </p:nvSpPr>
        <p:spPr>
          <a:xfrm>
            <a:off x="4640580" y="1604772"/>
            <a:ext cx="82296" cy="82296"/>
          </a:xfrm>
          <a:prstGeom prst="ellipse">
            <a:avLst/>
          </a:prstGeom>
          <a:solidFill>
            <a:srgbClr val="0408AC"/>
          </a:solidFill>
          <a:ln/>
        </p:spPr>
        <p:txBody>
          <a:bodyPr/>
          <a:lstStyle/>
          <a:p>
            <a:endParaRPr lang="LID4096"/>
          </a:p>
        </p:txBody>
      </p:sp>
      <p:sp>
        <p:nvSpPr>
          <p:cNvPr id="13" name="Shape 11"/>
          <p:cNvSpPr/>
          <p:nvPr/>
        </p:nvSpPr>
        <p:spPr>
          <a:xfrm>
            <a:off x="4718304" y="1005840"/>
            <a:ext cx="1828800" cy="1280160"/>
          </a:xfrm>
          <a:prstGeom prst="roundRect">
            <a:avLst>
              <a:gd name="adj" fmla="val 10000"/>
            </a:avLst>
          </a:prstGeom>
          <a:solidFill>
            <a:srgbClr val="FFFFFF"/>
          </a:solidFill>
          <a:ln w="50800">
            <a:solidFill>
              <a:srgbClr val="4F42FD"/>
            </a:solidFill>
            <a:prstDash val="solid"/>
          </a:ln>
        </p:spPr>
        <p:txBody>
          <a:bodyPr/>
          <a:lstStyle/>
          <a:p>
            <a:endParaRPr lang="LID4096"/>
          </a:p>
        </p:txBody>
      </p:sp>
      <p:sp>
        <p:nvSpPr>
          <p:cNvPr id="14" name="Text 12"/>
          <p:cNvSpPr/>
          <p:nvPr/>
        </p:nvSpPr>
        <p:spPr>
          <a:xfrm>
            <a:off x="4855464" y="1143000"/>
            <a:ext cx="1554480" cy="329184"/>
          </a:xfrm>
          <a:prstGeom prst="rect">
            <a:avLst/>
          </a:prstGeom>
          <a:noFill/>
          <a:ln/>
        </p:spPr>
        <p:txBody>
          <a:bodyPr wrap="square" lIns="0" tIns="0" rIns="0" bIns="0" rtlCol="0" anchor="ctr"/>
          <a:lstStyle/>
          <a:p>
            <a:pPr marL="0" indent="0">
              <a:buNone/>
            </a:pPr>
            <a:r>
              <a:rPr lang="en-US" sz="1400" dirty="0">
                <a:solidFill>
                  <a:srgbClr val="000000"/>
                </a:solidFill>
                <a:latin typeface="Segoe Sans Display" pitchFamily="34" charset="0"/>
                <a:ea typeface="Segoe Sans Display" pitchFamily="34" charset="-122"/>
                <a:cs typeface="Segoe Sans Display" pitchFamily="34" charset="-120"/>
              </a:rPr>
              <a:t>Agent user</a:t>
            </a:r>
            <a:endParaRPr lang="en-US" sz="1400" dirty="0"/>
          </a:p>
        </p:txBody>
      </p:sp>
      <p:sp>
        <p:nvSpPr>
          <p:cNvPr id="15" name="Text 13"/>
          <p:cNvSpPr/>
          <p:nvPr/>
        </p:nvSpPr>
        <p:spPr>
          <a:xfrm>
            <a:off x="4855464" y="1508760"/>
            <a:ext cx="1554480" cy="685800"/>
          </a:xfrm>
          <a:prstGeom prst="rect">
            <a:avLst/>
          </a:prstGeom>
          <a:noFill/>
          <a:ln/>
        </p:spPr>
        <p:txBody>
          <a:bodyPr wrap="square" lIns="0" tIns="0" rIns="0" bIns="0" rtlCol="0" anchor="t"/>
          <a:lstStyle/>
          <a:p>
            <a:pPr marL="0" indent="0">
              <a:buNone/>
            </a:pPr>
            <a:r>
              <a:rPr lang="en-US" sz="1050" dirty="0">
                <a:solidFill>
                  <a:srgbClr val="262626"/>
                </a:solidFill>
                <a:latin typeface="Segoe Sans Display" pitchFamily="34" charset="0"/>
                <a:ea typeface="Segoe Sans Display" pitchFamily="34" charset="-122"/>
                <a:cs typeface="Segoe Sans Display" pitchFamily="34" charset="-120"/>
              </a:rPr>
              <a:t>documentation-agent@… with its own licence and rights</a:t>
            </a:r>
            <a:endParaRPr lang="en-US" sz="1050" dirty="0"/>
          </a:p>
        </p:txBody>
      </p:sp>
      <p:sp>
        <p:nvSpPr>
          <p:cNvPr id="16" name="Shape 14"/>
          <p:cNvSpPr/>
          <p:nvPr/>
        </p:nvSpPr>
        <p:spPr>
          <a:xfrm>
            <a:off x="6583680" y="1645920"/>
            <a:ext cx="228600" cy="0"/>
          </a:xfrm>
          <a:prstGeom prst="line">
            <a:avLst/>
          </a:prstGeom>
          <a:noFill/>
          <a:ln w="15875">
            <a:solidFill>
              <a:srgbClr val="0408AC"/>
            </a:solidFill>
            <a:prstDash val="solid"/>
          </a:ln>
        </p:spPr>
        <p:txBody>
          <a:bodyPr/>
          <a:lstStyle/>
          <a:p>
            <a:endParaRPr lang="LID4096"/>
          </a:p>
        </p:txBody>
      </p:sp>
      <p:sp>
        <p:nvSpPr>
          <p:cNvPr id="17" name="Shape 15"/>
          <p:cNvSpPr/>
          <p:nvPr/>
        </p:nvSpPr>
        <p:spPr>
          <a:xfrm>
            <a:off x="6771132" y="1604772"/>
            <a:ext cx="82296" cy="82296"/>
          </a:xfrm>
          <a:prstGeom prst="ellipse">
            <a:avLst/>
          </a:prstGeom>
          <a:solidFill>
            <a:srgbClr val="0408AC"/>
          </a:solidFill>
          <a:ln/>
        </p:spPr>
        <p:txBody>
          <a:bodyPr/>
          <a:lstStyle/>
          <a:p>
            <a:endParaRPr lang="LID4096"/>
          </a:p>
        </p:txBody>
      </p:sp>
      <p:sp>
        <p:nvSpPr>
          <p:cNvPr id="18" name="Shape 16"/>
          <p:cNvSpPr/>
          <p:nvPr/>
        </p:nvSpPr>
        <p:spPr>
          <a:xfrm>
            <a:off x="6848856" y="1005840"/>
            <a:ext cx="1828800" cy="1280160"/>
          </a:xfrm>
          <a:prstGeom prst="roundRect">
            <a:avLst>
              <a:gd name="adj" fmla="val 10000"/>
            </a:avLst>
          </a:prstGeom>
          <a:solidFill>
            <a:srgbClr val="D9D9D9">
              <a:alpha val="49000"/>
            </a:srgbClr>
          </a:solidFill>
          <a:ln w="25400">
            <a:solidFill>
              <a:srgbClr val="FFFFFF"/>
            </a:solidFill>
            <a:prstDash val="solid"/>
          </a:ln>
        </p:spPr>
        <p:txBody>
          <a:bodyPr/>
          <a:lstStyle/>
          <a:p>
            <a:endParaRPr lang="LID4096"/>
          </a:p>
        </p:txBody>
      </p:sp>
      <p:sp>
        <p:nvSpPr>
          <p:cNvPr id="19" name="Text 17"/>
          <p:cNvSpPr/>
          <p:nvPr/>
        </p:nvSpPr>
        <p:spPr>
          <a:xfrm>
            <a:off x="6986016" y="1143000"/>
            <a:ext cx="1554480" cy="329184"/>
          </a:xfrm>
          <a:prstGeom prst="rect">
            <a:avLst/>
          </a:prstGeom>
          <a:noFill/>
          <a:ln/>
        </p:spPr>
        <p:txBody>
          <a:bodyPr wrap="square" lIns="0" tIns="0" rIns="0" bIns="0" rtlCol="0" anchor="ctr"/>
          <a:lstStyle/>
          <a:p>
            <a:pPr marL="0" indent="0">
              <a:buNone/>
            </a:pPr>
            <a:r>
              <a:rPr lang="en-US" sz="1400" dirty="0">
                <a:solidFill>
                  <a:srgbClr val="000000"/>
                </a:solidFill>
                <a:latin typeface="Segoe Sans Display" pitchFamily="34" charset="0"/>
                <a:ea typeface="Segoe Sans Display" pitchFamily="34" charset="-122"/>
                <a:cs typeface="Segoe Sans Display" pitchFamily="34" charset="-120"/>
              </a:rPr>
              <a:t>Azure DevOps</a:t>
            </a:r>
            <a:endParaRPr lang="en-US" sz="1400" dirty="0"/>
          </a:p>
        </p:txBody>
      </p:sp>
      <p:sp>
        <p:nvSpPr>
          <p:cNvPr id="20" name="Text 18"/>
          <p:cNvSpPr/>
          <p:nvPr/>
        </p:nvSpPr>
        <p:spPr>
          <a:xfrm>
            <a:off x="6986016" y="1508760"/>
            <a:ext cx="1554480" cy="685800"/>
          </a:xfrm>
          <a:prstGeom prst="rect">
            <a:avLst/>
          </a:prstGeom>
          <a:noFill/>
          <a:ln/>
        </p:spPr>
        <p:txBody>
          <a:bodyPr wrap="square" lIns="0" tIns="0" rIns="0" bIns="0" rtlCol="0" anchor="t"/>
          <a:lstStyle/>
          <a:p>
            <a:pPr marL="0" indent="0">
              <a:buNone/>
            </a:pPr>
            <a:r>
              <a:rPr lang="en-US" sz="1050" dirty="0">
                <a:solidFill>
                  <a:srgbClr val="262626"/>
                </a:solidFill>
                <a:latin typeface="Segoe Sans Display" pitchFamily="34" charset="0"/>
                <a:ea typeface="Segoe Sans Display" pitchFamily="34" charset="-122"/>
                <a:cs typeface="Segoe Sans Display" pitchFamily="34" charset="-120"/>
              </a:rPr>
              <a:t>Wiki commit by "documentation-agent (agent user)"</a:t>
            </a:r>
            <a:endParaRPr lang="en-US" sz="1050" dirty="0"/>
          </a:p>
        </p:txBody>
      </p:sp>
      <p:sp>
        <p:nvSpPr>
          <p:cNvPr id="21" name="Shape 19"/>
          <p:cNvSpPr/>
          <p:nvPr/>
        </p:nvSpPr>
        <p:spPr>
          <a:xfrm>
            <a:off x="457200" y="2514600"/>
            <a:ext cx="5349240" cy="1691640"/>
          </a:xfrm>
          <a:prstGeom prst="roundRect">
            <a:avLst>
              <a:gd name="adj" fmla="val 8649"/>
            </a:avLst>
          </a:prstGeom>
          <a:solidFill>
            <a:srgbClr val="D9D9D9">
              <a:alpha val="49000"/>
            </a:srgbClr>
          </a:solidFill>
          <a:ln w="25400">
            <a:solidFill>
              <a:srgbClr val="FFFFFF"/>
            </a:solidFill>
            <a:prstDash val="solid"/>
          </a:ln>
        </p:spPr>
        <p:txBody>
          <a:bodyPr/>
          <a:lstStyle/>
          <a:p>
            <a:endParaRPr lang="LID4096"/>
          </a:p>
        </p:txBody>
      </p:sp>
      <p:sp>
        <p:nvSpPr>
          <p:cNvPr id="22" name="Text 20"/>
          <p:cNvSpPr/>
          <p:nvPr/>
        </p:nvSpPr>
        <p:spPr>
          <a:xfrm>
            <a:off x="685800" y="2633472"/>
            <a:ext cx="1645920" cy="292608"/>
          </a:xfrm>
          <a:prstGeom prst="rect">
            <a:avLst/>
          </a:prstGeom>
          <a:noFill/>
          <a:ln/>
        </p:spPr>
        <p:txBody>
          <a:bodyPr wrap="square" lIns="0" tIns="0" rIns="0" bIns="0" rtlCol="0" anchor="ctr"/>
          <a:lstStyle/>
          <a:p>
            <a:pPr marL="0" indent="0">
              <a:buNone/>
            </a:pPr>
            <a:r>
              <a:rPr lang="en-US" sz="1100" dirty="0">
                <a:solidFill>
                  <a:srgbClr val="0408AC"/>
                </a:solidFill>
                <a:latin typeface="Segoe Sans Display Semibold" pitchFamily="34" charset="0"/>
                <a:ea typeface="Segoe Sans Display Semibold" pitchFamily="34" charset="-122"/>
                <a:cs typeface="Segoe Sans Display Semibold" pitchFamily="34" charset="-120"/>
              </a:rPr>
              <a:t>Connection</a:t>
            </a:r>
            <a:endParaRPr lang="en-US" sz="1100" dirty="0"/>
          </a:p>
        </p:txBody>
      </p:sp>
      <p:sp>
        <p:nvSpPr>
          <p:cNvPr id="23" name="Text 21"/>
          <p:cNvSpPr/>
          <p:nvPr/>
        </p:nvSpPr>
        <p:spPr>
          <a:xfrm>
            <a:off x="2377440" y="2633472"/>
            <a:ext cx="3291840" cy="292608"/>
          </a:xfrm>
          <a:prstGeom prst="rect">
            <a:avLst/>
          </a:prstGeom>
          <a:noFill/>
          <a:ln/>
        </p:spPr>
        <p:txBody>
          <a:bodyPr wrap="square" lIns="0" tIns="0" rIns="0" bIns="0" rtlCol="0" anchor="ctr"/>
          <a:lstStyle/>
          <a:p>
            <a:pPr marL="0" indent="0">
              <a:buNone/>
            </a:pPr>
            <a:r>
              <a:rPr lang="en-US" sz="1100" dirty="0">
                <a:solidFill>
                  <a:srgbClr val="0408AC"/>
                </a:solidFill>
                <a:latin typeface="Segoe Sans Display Semibold" pitchFamily="34" charset="0"/>
                <a:ea typeface="Segoe Sans Display Semibold" pitchFamily="34" charset="-122"/>
                <a:cs typeface="Segoe Sans Display Semibold" pitchFamily="34" charset="-120"/>
              </a:rPr>
              <a:t>Who signs in</a:t>
            </a:r>
            <a:endParaRPr lang="en-US" sz="1100" dirty="0"/>
          </a:p>
        </p:txBody>
      </p:sp>
      <p:sp>
        <p:nvSpPr>
          <p:cNvPr id="24" name="Shape 22"/>
          <p:cNvSpPr/>
          <p:nvPr/>
        </p:nvSpPr>
        <p:spPr>
          <a:xfrm>
            <a:off x="685800" y="2971800"/>
            <a:ext cx="4892040" cy="0"/>
          </a:xfrm>
          <a:prstGeom prst="line">
            <a:avLst/>
          </a:prstGeom>
          <a:noFill/>
          <a:ln w="19050">
            <a:solidFill>
              <a:srgbClr val="FFFFFF"/>
            </a:solidFill>
            <a:prstDash val="solid"/>
          </a:ln>
        </p:spPr>
        <p:txBody>
          <a:bodyPr/>
          <a:lstStyle/>
          <a:p>
            <a:endParaRPr lang="LID4096"/>
          </a:p>
        </p:txBody>
      </p:sp>
      <p:sp>
        <p:nvSpPr>
          <p:cNvPr id="25" name="Text 23"/>
          <p:cNvSpPr/>
          <p:nvPr/>
        </p:nvSpPr>
        <p:spPr>
          <a:xfrm>
            <a:off x="685800" y="3008376"/>
            <a:ext cx="1645920" cy="310896"/>
          </a:xfrm>
          <a:prstGeom prst="rect">
            <a:avLst/>
          </a:prstGeom>
          <a:noFill/>
          <a:ln/>
        </p:spPr>
        <p:txBody>
          <a:bodyPr wrap="square" lIns="0" tIns="0" rIns="0" bIns="0" rtlCol="0" anchor="ctr"/>
          <a:lstStyle/>
          <a:p>
            <a:pPr marL="0" indent="0">
              <a:buNone/>
            </a:pPr>
            <a:r>
              <a:rPr lang="en-US" sz="1200" dirty="0">
                <a:solidFill>
                  <a:srgbClr val="000000"/>
                </a:solidFill>
                <a:latin typeface="Segoe Sans Display" pitchFamily="34" charset="0"/>
                <a:ea typeface="Segoe Sans Display" pitchFamily="34" charset="-122"/>
                <a:cs typeface="Segoe Sans Display" pitchFamily="34" charset="-120"/>
              </a:rPr>
              <a:t>Foundry IQ</a:t>
            </a:r>
            <a:endParaRPr lang="en-US" sz="1200" dirty="0"/>
          </a:p>
        </p:txBody>
      </p:sp>
      <p:sp>
        <p:nvSpPr>
          <p:cNvPr id="26" name="Text 24"/>
          <p:cNvSpPr/>
          <p:nvPr/>
        </p:nvSpPr>
        <p:spPr>
          <a:xfrm>
            <a:off x="2377440" y="3008376"/>
            <a:ext cx="3200400" cy="310896"/>
          </a:xfrm>
          <a:prstGeom prst="rect">
            <a:avLst/>
          </a:prstGeom>
          <a:noFill/>
          <a:ln/>
        </p:spPr>
        <p:txBody>
          <a:bodyPr wrap="square" lIns="0" tIns="0" rIns="0" bIns="0" rtlCol="0" anchor="ctr"/>
          <a:lstStyle/>
          <a:p>
            <a:pPr marL="0" indent="0">
              <a:buNone/>
            </a:pPr>
            <a:r>
              <a:rPr lang="en-US" sz="1200" dirty="0">
                <a:solidFill>
                  <a:srgbClr val="262626"/>
                </a:solidFill>
                <a:latin typeface="Segoe Sans Display" pitchFamily="34" charset="0"/>
                <a:ea typeface="Segoe Sans Display" pitchFamily="34" charset="-122"/>
                <a:cs typeface="Segoe Sans Display" pitchFamily="34" charset="-120"/>
              </a:rPr>
              <a:t>Project managed identity</a:t>
            </a:r>
            <a:endParaRPr lang="en-US" sz="1200" dirty="0"/>
          </a:p>
        </p:txBody>
      </p:sp>
      <p:sp>
        <p:nvSpPr>
          <p:cNvPr id="27" name="Shape 25"/>
          <p:cNvSpPr/>
          <p:nvPr/>
        </p:nvSpPr>
        <p:spPr>
          <a:xfrm>
            <a:off x="685800" y="3355848"/>
            <a:ext cx="4892040" cy="0"/>
          </a:xfrm>
          <a:prstGeom prst="line">
            <a:avLst/>
          </a:prstGeom>
          <a:noFill/>
          <a:ln w="19050">
            <a:solidFill>
              <a:srgbClr val="FFFFFF"/>
            </a:solidFill>
            <a:prstDash val="solid"/>
          </a:ln>
        </p:spPr>
        <p:txBody>
          <a:bodyPr/>
          <a:lstStyle/>
          <a:p>
            <a:endParaRPr lang="LID4096"/>
          </a:p>
        </p:txBody>
      </p:sp>
      <p:sp>
        <p:nvSpPr>
          <p:cNvPr id="28" name="Text 26"/>
          <p:cNvSpPr/>
          <p:nvPr/>
        </p:nvSpPr>
        <p:spPr>
          <a:xfrm>
            <a:off x="685800" y="3392424"/>
            <a:ext cx="1645920" cy="310896"/>
          </a:xfrm>
          <a:prstGeom prst="rect">
            <a:avLst/>
          </a:prstGeom>
          <a:noFill/>
          <a:ln/>
        </p:spPr>
        <p:txBody>
          <a:bodyPr wrap="square" lIns="0" tIns="0" rIns="0" bIns="0" rtlCol="0" anchor="ctr"/>
          <a:lstStyle/>
          <a:p>
            <a:pPr marL="0" indent="0">
              <a:buNone/>
            </a:pPr>
            <a:r>
              <a:rPr lang="en-US" sz="1200" dirty="0">
                <a:solidFill>
                  <a:srgbClr val="000000"/>
                </a:solidFill>
                <a:latin typeface="Segoe Sans Display" pitchFamily="34" charset="0"/>
                <a:ea typeface="Segoe Sans Display" pitchFamily="34" charset="-122"/>
                <a:cs typeface="Segoe Sans Display" pitchFamily="34" charset="-120"/>
              </a:rPr>
              <a:t>GitHub</a:t>
            </a:r>
            <a:endParaRPr lang="en-US" sz="1200" dirty="0"/>
          </a:p>
        </p:txBody>
      </p:sp>
      <p:sp>
        <p:nvSpPr>
          <p:cNvPr id="29" name="Text 27"/>
          <p:cNvSpPr/>
          <p:nvPr/>
        </p:nvSpPr>
        <p:spPr>
          <a:xfrm>
            <a:off x="2377440" y="3392424"/>
            <a:ext cx="3200400" cy="310896"/>
          </a:xfrm>
          <a:prstGeom prst="rect">
            <a:avLst/>
          </a:prstGeom>
          <a:noFill/>
          <a:ln/>
        </p:spPr>
        <p:txBody>
          <a:bodyPr wrap="square" lIns="0" tIns="0" rIns="0" bIns="0" rtlCol="0" anchor="ctr"/>
          <a:lstStyle/>
          <a:p>
            <a:pPr marL="0" indent="0">
              <a:buNone/>
            </a:pPr>
            <a:r>
              <a:rPr lang="en-US" sz="1200" dirty="0">
                <a:solidFill>
                  <a:srgbClr val="262626"/>
                </a:solidFill>
                <a:latin typeface="Segoe Sans Display" pitchFamily="34" charset="0"/>
                <a:ea typeface="Segoe Sans Display" pitchFamily="34" charset="-122"/>
                <a:cs typeface="Segoe Sans Display" pitchFamily="34" charset="-120"/>
              </a:rPr>
              <a:t>Fine-grained token (production: GitHub App)</a:t>
            </a:r>
            <a:endParaRPr lang="en-US" sz="1200" dirty="0"/>
          </a:p>
        </p:txBody>
      </p:sp>
      <p:sp>
        <p:nvSpPr>
          <p:cNvPr id="30" name="Shape 28"/>
          <p:cNvSpPr/>
          <p:nvPr/>
        </p:nvSpPr>
        <p:spPr>
          <a:xfrm>
            <a:off x="685800" y="3739896"/>
            <a:ext cx="4892040" cy="0"/>
          </a:xfrm>
          <a:prstGeom prst="line">
            <a:avLst/>
          </a:prstGeom>
          <a:noFill/>
          <a:ln w="19050">
            <a:solidFill>
              <a:srgbClr val="FFFFFF"/>
            </a:solidFill>
            <a:prstDash val="solid"/>
          </a:ln>
        </p:spPr>
        <p:txBody>
          <a:bodyPr/>
          <a:lstStyle/>
          <a:p>
            <a:endParaRPr lang="LID4096"/>
          </a:p>
        </p:txBody>
      </p:sp>
      <p:sp>
        <p:nvSpPr>
          <p:cNvPr id="31" name="Text 29"/>
          <p:cNvSpPr/>
          <p:nvPr/>
        </p:nvSpPr>
        <p:spPr>
          <a:xfrm>
            <a:off x="685800" y="3776472"/>
            <a:ext cx="1645920" cy="310896"/>
          </a:xfrm>
          <a:prstGeom prst="rect">
            <a:avLst/>
          </a:prstGeom>
          <a:noFill/>
          <a:ln/>
        </p:spPr>
        <p:txBody>
          <a:bodyPr wrap="square" lIns="0" tIns="0" rIns="0" bIns="0" rtlCol="0" anchor="ctr"/>
          <a:lstStyle/>
          <a:p>
            <a:pPr marL="0" indent="0">
              <a:buNone/>
            </a:pPr>
            <a:r>
              <a:rPr lang="en-US" sz="1200" dirty="0">
                <a:solidFill>
                  <a:srgbClr val="000000"/>
                </a:solidFill>
                <a:latin typeface="Segoe Sans Display" pitchFamily="34" charset="0"/>
                <a:ea typeface="Segoe Sans Display" pitchFamily="34" charset="-122"/>
                <a:cs typeface="Segoe Sans Display" pitchFamily="34" charset="-120"/>
              </a:rPr>
              <a:t>Azure DevOps</a:t>
            </a:r>
            <a:endParaRPr lang="en-US" sz="1200" dirty="0"/>
          </a:p>
        </p:txBody>
      </p:sp>
      <p:sp>
        <p:nvSpPr>
          <p:cNvPr id="32" name="Text 30"/>
          <p:cNvSpPr/>
          <p:nvPr/>
        </p:nvSpPr>
        <p:spPr>
          <a:xfrm>
            <a:off x="2377440" y="3776472"/>
            <a:ext cx="3200400" cy="310896"/>
          </a:xfrm>
          <a:prstGeom prst="rect">
            <a:avLst/>
          </a:prstGeom>
          <a:noFill/>
          <a:ln/>
        </p:spPr>
        <p:txBody>
          <a:bodyPr wrap="square" lIns="0" tIns="0" rIns="0" bIns="0" rtlCol="0" anchor="ctr"/>
          <a:lstStyle/>
          <a:p>
            <a:pPr marL="0" indent="0">
              <a:buNone/>
            </a:pPr>
            <a:r>
              <a:rPr lang="en-US" sz="1200" dirty="0">
                <a:solidFill>
                  <a:srgbClr val="262626"/>
                </a:solidFill>
                <a:latin typeface="Segoe Sans Display" pitchFamily="34" charset="0"/>
                <a:ea typeface="Segoe Sans Display" pitchFamily="34" charset="-122"/>
                <a:cs typeface="Segoe Sans Display" pitchFamily="34" charset="-120"/>
              </a:rPr>
              <a:t>The agent user, never a person</a:t>
            </a:r>
            <a:endParaRPr lang="en-US" sz="1200" dirty="0"/>
          </a:p>
        </p:txBody>
      </p:sp>
      <p:sp>
        <p:nvSpPr>
          <p:cNvPr id="33" name="GRADTAB_TAB"/>
          <p:cNvSpPr/>
          <p:nvPr/>
        </p:nvSpPr>
        <p:spPr>
          <a:xfrm>
            <a:off x="6263640" y="2514600"/>
            <a:ext cx="2194560" cy="292608"/>
          </a:xfrm>
          <a:prstGeom prst="round2SameRect">
            <a:avLst>
              <a:gd name="adj1" fmla="val 40652"/>
              <a:gd name="adj2" fmla="val 0"/>
            </a:avLst>
          </a:prstGeom>
          <a:gradFill>
            <a:gsLst>
              <a:gs pos="90000">
                <a:srgbClr val="432EC8"/>
              </a:gs>
              <a:gs pos="10000">
                <a:srgbClr val="0408AC"/>
              </a:gs>
            </a:gsLst>
            <a:path path="circle">
              <a:fillToRect l="100000" t="100000"/>
            </a:path>
          </a:gradFill>
          <a:ln/>
        </p:spPr>
        <p:txBody>
          <a:bodyPr wrap="square" lIns="0" tIns="0" rIns="0" bIns="0" rtlCol="0" anchor="ctr"/>
          <a:lstStyle/>
          <a:p>
            <a:pPr marL="0" indent="0" algn="ctr">
              <a:buNone/>
            </a:pPr>
            <a:r>
              <a:rPr lang="en-US" sz="850" kern="0" spc="200" dirty="0">
                <a:solidFill>
                  <a:srgbClr val="FFFFFF"/>
                </a:solidFill>
                <a:latin typeface="Segoe Sans Display Semibold" pitchFamily="34" charset="0"/>
                <a:ea typeface="Segoe Sans Display Semibold" pitchFamily="34" charset="-122"/>
                <a:cs typeface="Segoe Sans Display Semibold" pitchFamily="34" charset="-120"/>
              </a:rPr>
              <a:t>SECURITY DEBT</a:t>
            </a:r>
            <a:endParaRPr lang="en-US" sz="850" dirty="0"/>
          </a:p>
        </p:txBody>
      </p:sp>
      <p:sp>
        <p:nvSpPr>
          <p:cNvPr id="34" name="Shape 32"/>
          <p:cNvSpPr/>
          <p:nvPr/>
        </p:nvSpPr>
        <p:spPr>
          <a:xfrm>
            <a:off x="6080760" y="2807208"/>
            <a:ext cx="2606040" cy="1399032"/>
          </a:xfrm>
          <a:prstGeom prst="roundRect">
            <a:avLst>
              <a:gd name="adj" fmla="val 10458"/>
            </a:avLst>
          </a:prstGeom>
          <a:solidFill>
            <a:srgbClr val="D9D9D9">
              <a:alpha val="49000"/>
            </a:srgbClr>
          </a:solidFill>
          <a:ln w="25400">
            <a:solidFill>
              <a:srgbClr val="FFFFFF"/>
            </a:solidFill>
            <a:prstDash val="solid"/>
          </a:ln>
        </p:spPr>
        <p:txBody>
          <a:bodyPr/>
          <a:lstStyle/>
          <a:p>
            <a:endParaRPr lang="LID4096"/>
          </a:p>
        </p:txBody>
      </p:sp>
      <p:sp>
        <p:nvSpPr>
          <p:cNvPr id="35" name="Text 33"/>
          <p:cNvSpPr/>
          <p:nvPr/>
        </p:nvSpPr>
        <p:spPr>
          <a:xfrm>
            <a:off x="6263640" y="2926080"/>
            <a:ext cx="2240280" cy="1188720"/>
          </a:xfrm>
          <a:prstGeom prst="rect">
            <a:avLst/>
          </a:prstGeom>
          <a:noFill/>
          <a:ln/>
        </p:spPr>
        <p:txBody>
          <a:bodyPr wrap="square" lIns="0" tIns="0" rIns="0" bIns="0" rtlCol="0" anchor="ctr"/>
          <a:lstStyle/>
          <a:p>
            <a:pPr marL="0" indent="0">
              <a:buNone/>
            </a:pPr>
            <a:r>
              <a:rPr lang="en-US" sz="1150" dirty="0">
                <a:solidFill>
                  <a:srgbClr val="000000"/>
                </a:solidFill>
                <a:latin typeface="Segoe Sans Display" pitchFamily="34" charset="0"/>
                <a:ea typeface="Segoe Sans Display" pitchFamily="34" charset="-122"/>
                <a:cs typeface="Segoe Sans Display" pitchFamily="34" charset="-120"/>
              </a:rPr>
              <a:t>The agent user has Basic + Contributors so it can write. Narrowing it is the hardening step.</a:t>
            </a:r>
            <a:endParaRPr lang="en-US" sz="1150" dirty="0"/>
          </a:p>
        </p:txBody>
      </p:sp>
      <p:sp>
        <p:nvSpPr>
          <p:cNvPr id="36" name="Text 34"/>
          <p:cNvSpPr/>
          <p:nvPr/>
        </p:nvSpPr>
        <p:spPr>
          <a:xfrm>
            <a:off x="457200" y="4462272"/>
            <a:ext cx="960120" cy="274320"/>
          </a:xfrm>
          <a:prstGeom prst="roundRect">
            <a:avLst>
              <a:gd name="adj" fmla="val 16667"/>
            </a:avLst>
          </a:prstGeom>
          <a:solidFill>
            <a:srgbClr val="0408AC"/>
          </a:solidFill>
          <a:ln/>
        </p:spPr>
        <p:txBody>
          <a:bodyPr wrap="square" lIns="0" tIns="0" rIns="0" bIns="0" rtlCol="0" anchor="ctr"/>
          <a:lstStyle/>
          <a:p>
            <a:pPr marL="0" indent="0" algn="ctr">
              <a:buNone/>
            </a:pPr>
            <a:r>
              <a:rPr lang="en-US" sz="800" kern="0" spc="200" dirty="0">
                <a:solidFill>
                  <a:srgbClr val="FFFFFF"/>
                </a:solidFill>
                <a:latin typeface="Segoe Sans Display Semibold" pitchFamily="34" charset="0"/>
                <a:ea typeface="Segoe Sans Display Semibold" pitchFamily="34" charset="-122"/>
                <a:cs typeface="Segoe Sans Display Semibold" pitchFamily="34" charset="-120"/>
              </a:rPr>
              <a:t>LIVE DEMO</a:t>
            </a:r>
            <a:endParaRPr lang="en-US" sz="800" dirty="0"/>
          </a:p>
        </p:txBody>
      </p:sp>
      <p:sp>
        <p:nvSpPr>
          <p:cNvPr id="37" name="Text 35"/>
          <p:cNvSpPr/>
          <p:nvPr/>
        </p:nvSpPr>
        <p:spPr>
          <a:xfrm>
            <a:off x="1536192" y="4462272"/>
            <a:ext cx="7132320" cy="274320"/>
          </a:xfrm>
          <a:prstGeom prst="rect">
            <a:avLst/>
          </a:prstGeom>
          <a:noFill/>
          <a:ln/>
        </p:spPr>
        <p:txBody>
          <a:bodyPr wrap="square" lIns="0" tIns="0" rIns="0" bIns="0" rtlCol="0" anchor="ctr"/>
          <a:lstStyle/>
          <a:p>
            <a:pPr marL="0" indent="0">
              <a:buNone/>
            </a:pPr>
            <a:r>
              <a:rPr lang="en-US" sz="1100" dirty="0">
                <a:solidFill>
                  <a:srgbClr val="262626"/>
                </a:solidFill>
                <a:latin typeface="Segoe Sans Display" pitchFamily="34" charset="0"/>
                <a:ea typeface="Segoe Sans Display" pitchFamily="34" charset="-122"/>
                <a:cs typeface="Segoe Sans Display" pitchFamily="34" charset="-120"/>
              </a:rPr>
              <a:t>Entra Agent ID  ·  demo-toolbox.ps1 -TryAsMe  →  REFUSED ado  ·  wiki history</a:t>
            </a:r>
            <a:endParaRPr lang="en-US" sz="1100" dirty="0"/>
          </a:p>
        </p:txBody>
      </p:sp>
      <p:sp>
        <p:nvSpPr>
          <p:cNvPr id="38" name="Title 37">
            <a:extLst>
              <a:ext uri="{FF2B5EF4-FFF2-40B4-BE49-F238E27FC236}">
                <a16:creationId xmlns:a16="http://schemas.microsoft.com/office/drawing/2014/main" id="{D346018F-36D5-0624-BDC6-06D05DA403CE}"/>
              </a:ext>
            </a:extLst>
          </p:cNvPr>
          <p:cNvSpPr>
            <a:spLocks noGrp="1"/>
          </p:cNvSpPr>
          <p:nvPr>
            <p:ph type="title"/>
          </p:nvPr>
        </p:nvSpPr>
        <p:spPr/>
        <p:txBody>
          <a:bodyPr/>
          <a:lstStyle/>
          <a:p>
            <a:r>
              <a:rPr lang="en-GB"/>
              <a:t>The agent signs in as itself</a:t>
            </a:r>
            <a:endParaRPr lang="LID4096"/>
          </a:p>
        </p:txBody>
      </p:sp>
    </p:spTree>
    <p:extLst>
      <p:ext uri="{BB962C8B-B14F-4D97-AF65-F5344CB8AC3E}">
        <p14:creationId xmlns:p14="http://schemas.microsoft.com/office/powerpoint/2010/main" val="161072979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p:cNvSpPr/>
          <p:nvPr/>
        </p:nvSpPr>
        <p:spPr>
          <a:xfrm>
            <a:off x="393192" y="640080"/>
            <a:ext cx="7863840" cy="274320"/>
          </a:xfrm>
          <a:prstGeom prst="rect">
            <a:avLst/>
          </a:prstGeom>
          <a:noFill/>
          <a:ln/>
        </p:spPr>
        <p:txBody>
          <a:bodyPr wrap="square" lIns="0" tIns="0" rIns="0" bIns="0" rtlCol="0" anchor="ctr"/>
          <a:lstStyle/>
          <a:p>
            <a:pPr marL="0" indent="0">
              <a:buNone/>
            </a:pPr>
            <a:r>
              <a:rPr lang="en-US" sz="1500" dirty="0">
                <a:solidFill>
                  <a:srgbClr val="998CE4"/>
                </a:solidFill>
                <a:latin typeface="Segoe Sans Display" pitchFamily="34" charset="0"/>
                <a:ea typeface="Segoe Sans Display" pitchFamily="34" charset="-122"/>
                <a:cs typeface="Segoe Sans Display" pitchFamily="34" charset="-120"/>
              </a:rPr>
              <a:t>We built identity first, so the Documentation Agent is ready to be governed</a:t>
            </a:r>
            <a:endParaRPr lang="en-US" sz="1500" dirty="0"/>
          </a:p>
        </p:txBody>
      </p:sp>
      <p:sp>
        <p:nvSpPr>
          <p:cNvPr id="4" name="Shape 2"/>
          <p:cNvSpPr/>
          <p:nvPr/>
        </p:nvSpPr>
        <p:spPr>
          <a:xfrm>
            <a:off x="393192" y="1188720"/>
            <a:ext cx="2743200" cy="1417320"/>
          </a:xfrm>
          <a:prstGeom prst="roundRect">
            <a:avLst>
              <a:gd name="adj" fmla="val 9032"/>
            </a:avLst>
          </a:prstGeom>
          <a:solidFill>
            <a:srgbClr val="262626"/>
          </a:solidFill>
          <a:ln/>
        </p:spPr>
        <p:txBody>
          <a:bodyPr/>
          <a:lstStyle/>
          <a:p>
            <a:endParaRPr lang="LID4096"/>
          </a:p>
        </p:txBody>
      </p:sp>
      <p:sp>
        <p:nvSpPr>
          <p:cNvPr id="5" name="GRADBAND_TAB"/>
          <p:cNvSpPr/>
          <p:nvPr/>
        </p:nvSpPr>
        <p:spPr>
          <a:xfrm>
            <a:off x="393192" y="1188720"/>
            <a:ext cx="2743200"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REGISTRY</a:t>
            </a:r>
            <a:endParaRPr lang="en-US" sz="800" dirty="0"/>
          </a:p>
        </p:txBody>
      </p:sp>
      <p:sp>
        <p:nvSpPr>
          <p:cNvPr id="6" name="Text 4"/>
          <p:cNvSpPr/>
          <p:nvPr/>
        </p:nvSpPr>
        <p:spPr>
          <a:xfrm>
            <a:off x="594360" y="1645920"/>
            <a:ext cx="2340864" cy="822960"/>
          </a:xfrm>
          <a:prstGeom prst="rect">
            <a:avLst/>
          </a:prstGeom>
          <a:noFill/>
          <a:ln/>
        </p:spPr>
        <p:txBody>
          <a:bodyPr wrap="square" lIns="0" tIns="0" rIns="0" bIns="0" rtlCol="0" anchor="ctr"/>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Every published Foundry agent appears, with its owner</a:t>
            </a:r>
            <a:endParaRPr lang="en-US" sz="1200" dirty="0"/>
          </a:p>
        </p:txBody>
      </p:sp>
      <p:sp>
        <p:nvSpPr>
          <p:cNvPr id="7" name="Shape 5"/>
          <p:cNvSpPr/>
          <p:nvPr/>
        </p:nvSpPr>
        <p:spPr>
          <a:xfrm>
            <a:off x="3273552" y="1188720"/>
            <a:ext cx="2743200" cy="1417320"/>
          </a:xfrm>
          <a:prstGeom prst="roundRect">
            <a:avLst>
              <a:gd name="adj" fmla="val 9032"/>
            </a:avLst>
          </a:prstGeom>
          <a:solidFill>
            <a:srgbClr val="262626"/>
          </a:solidFill>
          <a:ln/>
        </p:spPr>
        <p:txBody>
          <a:bodyPr/>
          <a:lstStyle/>
          <a:p>
            <a:endParaRPr lang="LID4096"/>
          </a:p>
        </p:txBody>
      </p:sp>
      <p:sp>
        <p:nvSpPr>
          <p:cNvPr id="8" name="GRADBAND_TAB"/>
          <p:cNvSpPr/>
          <p:nvPr/>
        </p:nvSpPr>
        <p:spPr>
          <a:xfrm>
            <a:off x="3273552" y="1188720"/>
            <a:ext cx="2743200"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ACCESS</a:t>
            </a:r>
            <a:endParaRPr lang="en-US" sz="800" dirty="0"/>
          </a:p>
        </p:txBody>
      </p:sp>
      <p:sp>
        <p:nvSpPr>
          <p:cNvPr id="9" name="Text 7"/>
          <p:cNvSpPr/>
          <p:nvPr/>
        </p:nvSpPr>
        <p:spPr>
          <a:xfrm>
            <a:off x="3474720" y="1645920"/>
            <a:ext cx="2340864" cy="822960"/>
          </a:xfrm>
          <a:prstGeom prst="rect">
            <a:avLst/>
          </a:prstGeom>
          <a:noFill/>
          <a:ln/>
        </p:spPr>
        <p:txBody>
          <a:bodyPr wrap="square" lIns="0" tIns="0" rIns="0" bIns="0" rtlCol="0" anchor="ctr"/>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Conditional Access and access reviews on the agent identity</a:t>
            </a:r>
            <a:endParaRPr lang="en-US" sz="1200" dirty="0"/>
          </a:p>
        </p:txBody>
      </p:sp>
      <p:sp>
        <p:nvSpPr>
          <p:cNvPr id="10" name="Shape 8"/>
          <p:cNvSpPr/>
          <p:nvPr/>
        </p:nvSpPr>
        <p:spPr>
          <a:xfrm>
            <a:off x="393192" y="2743200"/>
            <a:ext cx="2743200" cy="1417320"/>
          </a:xfrm>
          <a:prstGeom prst="roundRect">
            <a:avLst>
              <a:gd name="adj" fmla="val 9032"/>
            </a:avLst>
          </a:prstGeom>
          <a:solidFill>
            <a:srgbClr val="262626"/>
          </a:solidFill>
          <a:ln/>
        </p:spPr>
        <p:txBody>
          <a:bodyPr/>
          <a:lstStyle/>
          <a:p>
            <a:endParaRPr lang="LID4096"/>
          </a:p>
        </p:txBody>
      </p:sp>
      <p:sp>
        <p:nvSpPr>
          <p:cNvPr id="11" name="GRADBAND_TAB"/>
          <p:cNvSpPr/>
          <p:nvPr/>
        </p:nvSpPr>
        <p:spPr>
          <a:xfrm>
            <a:off x="393192" y="2743200"/>
            <a:ext cx="2743200"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SECURITY</a:t>
            </a:r>
            <a:endParaRPr lang="en-US" sz="800" dirty="0"/>
          </a:p>
        </p:txBody>
      </p:sp>
      <p:sp>
        <p:nvSpPr>
          <p:cNvPr id="12" name="Text 10"/>
          <p:cNvSpPr/>
          <p:nvPr/>
        </p:nvSpPr>
        <p:spPr>
          <a:xfrm>
            <a:off x="594360" y="3200400"/>
            <a:ext cx="2340864" cy="822960"/>
          </a:xfrm>
          <a:prstGeom prst="rect">
            <a:avLst/>
          </a:prstGeom>
          <a:noFill/>
          <a:ln/>
        </p:spPr>
        <p:txBody>
          <a:bodyPr wrap="square" lIns="0" tIns="0" rIns="0" bIns="0" rtlCol="0" anchor="ctr"/>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Defender threat detection and Purview data protection</a:t>
            </a:r>
            <a:endParaRPr lang="en-US" sz="1200" dirty="0"/>
          </a:p>
        </p:txBody>
      </p:sp>
      <p:sp>
        <p:nvSpPr>
          <p:cNvPr id="13" name="Shape 11"/>
          <p:cNvSpPr/>
          <p:nvPr/>
        </p:nvSpPr>
        <p:spPr>
          <a:xfrm>
            <a:off x="3273552" y="2743200"/>
            <a:ext cx="2743200" cy="1417320"/>
          </a:xfrm>
          <a:prstGeom prst="roundRect">
            <a:avLst>
              <a:gd name="adj" fmla="val 9032"/>
            </a:avLst>
          </a:prstGeom>
          <a:solidFill>
            <a:srgbClr val="262626"/>
          </a:solidFill>
          <a:ln/>
        </p:spPr>
        <p:txBody>
          <a:bodyPr/>
          <a:lstStyle/>
          <a:p>
            <a:endParaRPr lang="LID4096"/>
          </a:p>
        </p:txBody>
      </p:sp>
      <p:sp>
        <p:nvSpPr>
          <p:cNvPr id="14" name="GRADBAND_TAB"/>
          <p:cNvSpPr/>
          <p:nvPr/>
        </p:nvSpPr>
        <p:spPr>
          <a:xfrm>
            <a:off x="3273552" y="2743200"/>
            <a:ext cx="2743200" cy="329184"/>
          </a:xfrm>
          <a:prstGeom prst="round2SameRect">
            <a:avLst>
              <a:gd name="adj1" fmla="val 40652"/>
              <a:gd name="adj2" fmla="val 0"/>
            </a:avLst>
          </a:prstGeom>
          <a:gradFill>
            <a:gsLst>
              <a:gs pos="90000">
                <a:srgbClr val="998CE4"/>
              </a:gs>
              <a:gs pos="10000">
                <a:srgbClr val="5944D4"/>
              </a:gs>
            </a:gsLst>
            <a:path path="circle">
              <a:fillToRect l="100000" t="100000"/>
            </a:path>
          </a:gradFill>
          <a:ln/>
        </p:spPr>
        <p:txBody>
          <a:bodyPr wrap="square" lIns="0" tIns="0" rIns="0" bIns="0" rtlCol="0" anchor="ctr"/>
          <a:lstStyle/>
          <a:p>
            <a:pPr marL="0" indent="0" algn="ctr">
              <a:buNone/>
            </a:pPr>
            <a:r>
              <a:rPr lang="en-US" sz="800" kern="0" spc="260" dirty="0">
                <a:solidFill>
                  <a:srgbClr val="FEFFFE"/>
                </a:solidFill>
                <a:latin typeface="Segoe Sans Display Semibold" pitchFamily="34" charset="0"/>
                <a:ea typeface="Segoe Sans Display Semibold" pitchFamily="34" charset="-122"/>
                <a:cs typeface="Segoe Sans Display Semibold" pitchFamily="34" charset="-120"/>
              </a:rPr>
              <a:t>LIFECYCLE</a:t>
            </a:r>
            <a:endParaRPr lang="en-US" sz="800" dirty="0"/>
          </a:p>
        </p:txBody>
      </p:sp>
      <p:sp>
        <p:nvSpPr>
          <p:cNvPr id="15" name="Text 13"/>
          <p:cNvSpPr/>
          <p:nvPr/>
        </p:nvSpPr>
        <p:spPr>
          <a:xfrm>
            <a:off x="3474720" y="3200400"/>
            <a:ext cx="2340864" cy="822960"/>
          </a:xfrm>
          <a:prstGeom prst="rect">
            <a:avLst/>
          </a:prstGeom>
          <a:noFill/>
          <a:ln/>
        </p:spPr>
        <p:txBody>
          <a:bodyPr wrap="square" lIns="0" tIns="0" rIns="0" bIns="0" rtlCol="0" anchor="ctr"/>
          <a:lstStyle/>
          <a:p>
            <a:pPr marL="0" indent="0">
              <a:buNone/>
            </a:pPr>
            <a:r>
              <a:rPr lang="en-US" sz="1200" dirty="0">
                <a:solidFill>
                  <a:srgbClr val="FEFFFE"/>
                </a:solidFill>
                <a:latin typeface="Segoe Sans Display" pitchFamily="34" charset="0"/>
                <a:ea typeface="Segoe Sans Display" pitchFamily="34" charset="-122"/>
                <a:cs typeface="Segoe Sans Display" pitchFamily="34" charset="-120"/>
              </a:rPr>
              <a:t>Block, reassign or delete from the Microsoft 365 admin center</a:t>
            </a:r>
            <a:endParaRPr lang="en-US" sz="1200" dirty="0"/>
          </a:p>
        </p:txBody>
      </p:sp>
      <p:sp>
        <p:nvSpPr>
          <p:cNvPr id="16" name="Shape 14"/>
          <p:cNvSpPr/>
          <p:nvPr/>
        </p:nvSpPr>
        <p:spPr>
          <a:xfrm>
            <a:off x="6016752" y="1897380"/>
            <a:ext cx="155448" cy="0"/>
          </a:xfrm>
          <a:prstGeom prst="line">
            <a:avLst/>
          </a:prstGeom>
          <a:noFill/>
          <a:ln w="12700">
            <a:solidFill>
              <a:srgbClr val="7F7F7F"/>
            </a:solidFill>
            <a:prstDash val="solid"/>
          </a:ln>
        </p:spPr>
        <p:txBody>
          <a:bodyPr/>
          <a:lstStyle/>
          <a:p>
            <a:endParaRPr lang="LID4096"/>
          </a:p>
        </p:txBody>
      </p:sp>
      <p:sp>
        <p:nvSpPr>
          <p:cNvPr id="17" name="Shape 15"/>
          <p:cNvSpPr/>
          <p:nvPr/>
        </p:nvSpPr>
        <p:spPr>
          <a:xfrm>
            <a:off x="6016752" y="3451860"/>
            <a:ext cx="155448" cy="0"/>
          </a:xfrm>
          <a:prstGeom prst="line">
            <a:avLst/>
          </a:prstGeom>
          <a:noFill/>
          <a:ln w="12700">
            <a:solidFill>
              <a:srgbClr val="7F7F7F"/>
            </a:solidFill>
            <a:prstDash val="solid"/>
          </a:ln>
        </p:spPr>
        <p:txBody>
          <a:bodyPr/>
          <a:lstStyle/>
          <a:p>
            <a:endParaRPr lang="LID4096"/>
          </a:p>
        </p:txBody>
      </p:sp>
      <p:sp>
        <p:nvSpPr>
          <p:cNvPr id="18" name="Shape 16"/>
          <p:cNvSpPr/>
          <p:nvPr/>
        </p:nvSpPr>
        <p:spPr>
          <a:xfrm>
            <a:off x="6172200" y="1897380"/>
            <a:ext cx="0" cy="1554480"/>
          </a:xfrm>
          <a:prstGeom prst="line">
            <a:avLst/>
          </a:prstGeom>
          <a:noFill/>
          <a:ln w="12700">
            <a:solidFill>
              <a:srgbClr val="7F7F7F"/>
            </a:solidFill>
            <a:prstDash val="solid"/>
          </a:ln>
        </p:spPr>
        <p:txBody>
          <a:bodyPr/>
          <a:lstStyle/>
          <a:p>
            <a:endParaRPr lang="LID4096"/>
          </a:p>
        </p:txBody>
      </p:sp>
      <p:sp>
        <p:nvSpPr>
          <p:cNvPr id="19" name="Shape 17"/>
          <p:cNvSpPr/>
          <p:nvPr/>
        </p:nvSpPr>
        <p:spPr>
          <a:xfrm>
            <a:off x="6172200" y="2651760"/>
            <a:ext cx="164592" cy="0"/>
          </a:xfrm>
          <a:prstGeom prst="line">
            <a:avLst/>
          </a:prstGeom>
          <a:noFill/>
          <a:ln w="12700">
            <a:solidFill>
              <a:srgbClr val="7F7F7F"/>
            </a:solidFill>
            <a:prstDash val="solid"/>
          </a:ln>
        </p:spPr>
        <p:txBody>
          <a:bodyPr/>
          <a:lstStyle/>
          <a:p>
            <a:endParaRPr lang="LID4096"/>
          </a:p>
        </p:txBody>
      </p:sp>
      <p:sp>
        <p:nvSpPr>
          <p:cNvPr id="20" name="GRADAGENT"/>
          <p:cNvSpPr/>
          <p:nvPr/>
        </p:nvSpPr>
        <p:spPr>
          <a:xfrm>
            <a:off x="6336792" y="1600200"/>
            <a:ext cx="2414016" cy="2103120"/>
          </a:xfrm>
          <a:prstGeom prst="roundRect">
            <a:avLst>
              <a:gd name="adj" fmla="val 6957"/>
            </a:avLst>
          </a:prstGeom>
          <a:gradFill>
            <a:gsLst>
              <a:gs pos="90000">
                <a:srgbClr val="9B8FE8"/>
              </a:gs>
              <a:gs pos="10000">
                <a:srgbClr val="6B5BD6"/>
              </a:gs>
            </a:gsLst>
            <a:path path="circle">
              <a:fillToRect l="100000" t="100000"/>
            </a:path>
          </a:gradFill>
          <a:ln/>
        </p:spPr>
        <p:txBody>
          <a:bodyPr/>
          <a:lstStyle/>
          <a:p>
            <a:endParaRPr lang="LID4096"/>
          </a:p>
        </p:txBody>
      </p:sp>
      <p:sp>
        <p:nvSpPr>
          <p:cNvPr id="21" name="Text 19"/>
          <p:cNvSpPr/>
          <p:nvPr/>
        </p:nvSpPr>
        <p:spPr>
          <a:xfrm>
            <a:off x="6400800" y="1783080"/>
            <a:ext cx="2286000" cy="365760"/>
          </a:xfrm>
          <a:prstGeom prst="rect">
            <a:avLst/>
          </a:prstGeom>
          <a:noFill/>
          <a:ln/>
        </p:spPr>
        <p:txBody>
          <a:bodyPr wrap="square" lIns="0" tIns="0" rIns="0" bIns="0" rtlCol="0" anchor="ctr"/>
          <a:lstStyle/>
          <a:p>
            <a:pPr marL="0" indent="0" algn="ctr">
              <a:buNone/>
            </a:pPr>
            <a:r>
              <a:rPr lang="en-US" sz="1000" kern="0" spc="120" dirty="0">
                <a:solidFill>
                  <a:srgbClr val="FEFFFE"/>
                </a:solidFill>
                <a:latin typeface="Segoe Sans Display Semibold" pitchFamily="34" charset="0"/>
                <a:ea typeface="Segoe Sans Display Semibold" pitchFamily="34" charset="-122"/>
                <a:cs typeface="Segoe Sans Display Semibold" pitchFamily="34" charset="-120"/>
              </a:rPr>
              <a:t>DOCUMENTATION AGENT</a:t>
            </a:r>
            <a:endParaRPr lang="en-US" sz="1000" dirty="0"/>
          </a:p>
        </p:txBody>
      </p:sp>
      <p:sp>
        <p:nvSpPr>
          <p:cNvPr id="22" name="Text 20"/>
          <p:cNvSpPr/>
          <p:nvPr/>
        </p:nvSpPr>
        <p:spPr>
          <a:xfrm>
            <a:off x="6537960" y="2240280"/>
            <a:ext cx="2011680" cy="685800"/>
          </a:xfrm>
          <a:prstGeom prst="rect">
            <a:avLst/>
          </a:prstGeom>
          <a:noFill/>
          <a:ln/>
        </p:spPr>
        <p:txBody>
          <a:bodyPr wrap="square" lIns="0" tIns="0" rIns="0" bIns="0" rtlCol="0" anchor="ctr"/>
          <a:lstStyle/>
          <a:p>
            <a:pPr marL="0" indent="0" algn="ctr">
              <a:buNone/>
            </a:pPr>
            <a:r>
              <a:rPr lang="en-US" sz="1100" dirty="0">
                <a:solidFill>
                  <a:srgbClr val="FEFFFE"/>
                </a:solidFill>
                <a:latin typeface="Segoe Sans Display" pitchFamily="34" charset="0"/>
                <a:ea typeface="Segoe Sans Display" pitchFamily="34" charset="-122"/>
                <a:cs typeface="Segoe Sans Display" pitchFamily="34" charset="-120"/>
              </a:rPr>
              <a:t>Entra agent identity, agent user, scoped rights</a:t>
            </a:r>
            <a:endParaRPr lang="en-US" sz="1100" dirty="0"/>
          </a:p>
        </p:txBody>
      </p:sp>
      <p:sp>
        <p:nvSpPr>
          <p:cNvPr id="23" name="Text 21"/>
          <p:cNvSpPr/>
          <p:nvPr/>
        </p:nvSpPr>
        <p:spPr>
          <a:xfrm>
            <a:off x="6492240" y="2971800"/>
            <a:ext cx="2103120" cy="548640"/>
          </a:xfrm>
          <a:prstGeom prst="rect">
            <a:avLst/>
          </a:prstGeom>
          <a:noFill/>
          <a:ln/>
        </p:spPr>
        <p:txBody>
          <a:bodyPr wrap="square" lIns="0" tIns="0" rIns="0" bIns="0" rtlCol="0" anchor="ctr"/>
          <a:lstStyle/>
          <a:p>
            <a:pPr marL="0" indent="0" algn="ctr">
              <a:buNone/>
            </a:pPr>
            <a:r>
              <a:rPr lang="en-US" sz="1000" dirty="0">
                <a:solidFill>
                  <a:srgbClr val="FEFFFE"/>
                </a:solidFill>
                <a:latin typeface="Segoe Sans Display" pitchFamily="34" charset="0"/>
                <a:ea typeface="Segoe Sans Display" pitchFamily="34" charset="-122"/>
                <a:cs typeface="Segoe Sans Display" pitchFamily="34" charset="-120"/>
              </a:rPr>
              <a:t>[ visible, reviewable,</a:t>
            </a:r>
            <a:endParaRPr lang="en-US" sz="1000" dirty="0"/>
          </a:p>
          <a:p>
            <a:pPr marL="0" indent="0" algn="ctr">
              <a:buNone/>
            </a:pPr>
            <a:r>
              <a:rPr lang="en-US" sz="1000" dirty="0">
                <a:solidFill>
                  <a:srgbClr val="FEFFFE"/>
                </a:solidFill>
                <a:latin typeface="Segoe Sans Display" pitchFamily="34" charset="0"/>
                <a:ea typeface="Segoe Sans Display" pitchFamily="34" charset="-122"/>
                <a:cs typeface="Segoe Sans Display" pitchFamily="34" charset="-120"/>
              </a:rPr>
              <a:t>and can be switched off ]</a:t>
            </a:r>
            <a:endParaRPr lang="en-US" sz="1000" dirty="0"/>
          </a:p>
        </p:txBody>
      </p:sp>
      <p:sp>
        <p:nvSpPr>
          <p:cNvPr id="24" name="Text 22"/>
          <p:cNvSpPr/>
          <p:nvPr/>
        </p:nvSpPr>
        <p:spPr>
          <a:xfrm>
            <a:off x="393192" y="4443984"/>
            <a:ext cx="8321040" cy="274320"/>
          </a:xfrm>
          <a:prstGeom prst="rect">
            <a:avLst/>
          </a:prstGeom>
          <a:noFill/>
          <a:ln/>
        </p:spPr>
        <p:txBody>
          <a:bodyPr wrap="square" lIns="0" tIns="0" rIns="0" bIns="0" rtlCol="0" anchor="ctr"/>
          <a:lstStyle/>
          <a:p>
            <a:pPr marL="0" indent="0">
              <a:buNone/>
            </a:pPr>
            <a:r>
              <a:rPr lang="en-US" sz="1050" dirty="0">
                <a:solidFill>
                  <a:srgbClr val="BFBFBF"/>
                </a:solidFill>
                <a:latin typeface="Segoe Sans Display" pitchFamily="34" charset="0"/>
                <a:ea typeface="Segoe Sans Display" pitchFamily="34" charset="-122"/>
                <a:cs typeface="Segoe Sans Display" pitchFamily="34" charset="-120"/>
              </a:rPr>
              <a:t>Needs a Microsoft 365 Copilot licence and Frontier enrolment. Agent data moves to Entra-tenant residency.</a:t>
            </a:r>
            <a:endParaRPr lang="en-US" sz="1050" dirty="0"/>
          </a:p>
        </p:txBody>
      </p:sp>
      <p:sp>
        <p:nvSpPr>
          <p:cNvPr id="25" name="Title 24">
            <a:extLst>
              <a:ext uri="{FF2B5EF4-FFF2-40B4-BE49-F238E27FC236}">
                <a16:creationId xmlns:a16="http://schemas.microsoft.com/office/drawing/2014/main" id="{1E1B2CCC-851F-444A-359D-C8EF9FE97446}"/>
              </a:ext>
            </a:extLst>
          </p:cNvPr>
          <p:cNvSpPr>
            <a:spLocks noGrp="1"/>
          </p:cNvSpPr>
          <p:nvPr>
            <p:ph type="title"/>
          </p:nvPr>
        </p:nvSpPr>
        <p:spPr>
          <a:xfrm>
            <a:off x="303530" y="244094"/>
            <a:ext cx="7886700" cy="420370"/>
          </a:xfrm>
        </p:spPr>
        <p:txBody>
          <a:bodyPr/>
          <a:lstStyle/>
          <a:p>
            <a:r>
              <a:rPr lang="en-GB" sz="2400"/>
              <a:t>Agent 365 — govern every agent from one place</a:t>
            </a:r>
            <a:endParaRPr lang="LID4096" sz="2400"/>
          </a:p>
        </p:txBody>
      </p:sp>
    </p:spTree>
    <p:extLst>
      <p:ext uri="{BB962C8B-B14F-4D97-AF65-F5344CB8AC3E}">
        <p14:creationId xmlns:p14="http://schemas.microsoft.com/office/powerpoint/2010/main" val="1351464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Microsoft Foundry">
  <a:themeElements>
    <a:clrScheme name="Microsoft Foundry">
      <a:dk1>
        <a:srgbClr val="000000"/>
      </a:dk1>
      <a:lt1>
        <a:srgbClr val="FFFFFF"/>
      </a:lt1>
      <a:dk2>
        <a:srgbClr val="0A0B7E"/>
      </a:dk2>
      <a:lt2>
        <a:srgbClr val="0408AC"/>
      </a:lt2>
      <a:accent1>
        <a:srgbClr val="4F42FD"/>
      </a:accent1>
      <a:accent2>
        <a:srgbClr val="7274FF"/>
      </a:accent2>
      <a:accent3>
        <a:srgbClr val="6189DE"/>
      </a:accent3>
      <a:accent4>
        <a:srgbClr val="CAA3FF"/>
      </a:accent4>
      <a:accent5>
        <a:srgbClr val="AAC0F9"/>
      </a:accent5>
      <a:accent6>
        <a:srgbClr val="8590B0"/>
      </a:accent6>
      <a:hlink>
        <a:srgbClr val="4F42FD"/>
      </a:hlink>
      <a:folHlink>
        <a:srgbClr val="CAA3FF"/>
      </a:folHlink>
    </a:clrScheme>
    <a:fontScheme name="Custom 52">
      <a:majorFont>
        <a:latin typeface="Segoe Sans Display Semilight"/>
        <a:ea typeface=""/>
        <a:cs typeface=""/>
      </a:majorFont>
      <a:minorFont>
        <a:latin typeface="Segoe San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9" id="{01099D4C-AF97-BA49-9311-A9B4978D8F91}" vid="{0B546764-EF41-0445-AA22-77866C094EA4}"/>
    </a:ext>
  </a:extLst>
</a:theme>
</file>

<file path=ppt/theme/theme2.xml><?xml version="1.0" encoding="utf-8"?>
<a:theme xmlns:a="http://schemas.openxmlformats.org/drawingml/2006/main" name="_DARK TEMPLATE TO USE [FOUNDRY]">
  <a:themeElements>
    <a:clrScheme name="Custom 47">
      <a:dk1>
        <a:srgbClr val="000000"/>
      </a:dk1>
      <a:lt1>
        <a:srgbClr val="FEFFFE"/>
      </a:lt1>
      <a:dk2>
        <a:srgbClr val="7E7E7E"/>
      </a:dk2>
      <a:lt2>
        <a:srgbClr val="969696"/>
      </a:lt2>
      <a:accent1>
        <a:srgbClr val="5230AC"/>
      </a:accent1>
      <a:accent2>
        <a:srgbClr val="8251EE"/>
      </a:accent2>
      <a:accent3>
        <a:srgbClr val="AD5DF0"/>
      </a:accent3>
      <a:accent4>
        <a:srgbClr val="E36BF1"/>
      </a:accent4>
      <a:accent5>
        <a:srgbClr val="D49DFF"/>
      </a:accent5>
      <a:accent6>
        <a:srgbClr val="FBB0CB"/>
      </a:accent6>
      <a:hlink>
        <a:srgbClr val="AF5DEF"/>
      </a:hlink>
      <a:folHlink>
        <a:srgbClr val="5A36B7"/>
      </a:folHlink>
    </a:clrScheme>
    <a:fontScheme name="Custom 4">
      <a:majorFont>
        <a:latin typeface="Segoe Sans Display Semibold"/>
        <a:ea typeface=""/>
        <a:cs typeface=""/>
      </a:majorFont>
      <a:minorFont>
        <a:latin typeface="Segoe Sans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9" id="{01099D4C-AF97-BA49-9311-A9B4978D8F91}" vid="{0B546764-EF41-0445-AA22-77866C094EA4}"/>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6</TotalTime>
  <Words>935</Words>
  <Application>Microsoft Office PowerPoint</Application>
  <PresentationFormat>On-screen Show (16:9)</PresentationFormat>
  <Paragraphs>113</Paragraphs>
  <Slides>5</Slides>
  <Notes>5</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5</vt:i4>
      </vt:variant>
    </vt:vector>
  </HeadingPairs>
  <TitlesOfParts>
    <vt:vector size="14" baseType="lpstr">
      <vt:lpstr>Aptos</vt:lpstr>
      <vt:lpstr>Arial</vt:lpstr>
      <vt:lpstr>Segoe Sans Display</vt:lpstr>
      <vt:lpstr>Segoe Sans Display Semibold</vt:lpstr>
      <vt:lpstr>Segoe Sans Display Semilight</vt:lpstr>
      <vt:lpstr>Segoe UI Semibold</vt:lpstr>
      <vt:lpstr>Microsoft Foundry</vt:lpstr>
      <vt:lpstr>_DARK TEMPLATE TO USE [FOUNDRY]</vt:lpstr>
      <vt:lpstr>think-cell Slide</vt:lpstr>
      <vt:lpstr>Knowledge &amp; identity</vt:lpstr>
      <vt:lpstr>Foundry IQ — our standard as a tool</vt:lpstr>
      <vt:lpstr>Two toolboxes, one per job</vt:lpstr>
      <vt:lpstr>The agent signs in as itself</vt:lpstr>
      <vt:lpstr>Agent 365 — govern every agent from one place</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P2 · Knowledge, tools &amp; identity</dc:title>
  <dc:subject>PptxGenJS Presentation</dc:subject>
  <dc:creator>Rickard Widholm</dc:creator>
  <cp:lastModifiedBy>Rickard Widholm</cp:lastModifiedBy>
  <cp:revision>4</cp:revision>
  <dcterms:created xsi:type="dcterms:W3CDTF">2026-10-21T08:41:36Z</dcterms:created>
  <dcterms:modified xsi:type="dcterms:W3CDTF">2026-10-21T10:26:36Z</dcterms:modified>
</cp:coreProperties>
</file>