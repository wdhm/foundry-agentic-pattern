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 showed what the agent does. This block opens the hood: where the facts come from (Foundry IQ and the toolbox) and who the agent is when it reads and writes them. Three live demos, one slide each. Agent 365 closes on governance. Everything you see runs on fictional data, so we can show real calls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is the rulebook. It lives in a Foundry IQ knowledge base on Azure AI Search, and the agent calls it as an MCP tool through a project connection that uses the project's managed identity. Minimal reasoning effort: no model in the knowledge base, the agent's own model plans the query. Demo: run demo-foundry-iq.ps1, show DS-14 and DS-30 coming back. Then show kb-doc-agent in the Foundry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toolbox is a versioned bundle of MCP tools from several connections, behind one MCP endpoint. The agent version pins the toolbox version, so a change in tools is a new, testable release. Two toolboxes: four read tools for every assessment, one write tool used only by the approval runtime after a human approves in Teams. Demo: run demo-toolbox.ps1, then the PR #62 assessment (live if it passed at rehearsal, otherwise the recorded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gets an Entra agent identity. Azure DevOps only accepts users, so the agent also has an agent user. Our small gateway exchanges tokens: managed identity, blueprint, agent identity, agent user. No secrets, no person's account. The connection decides which identity is presented. Demo: Entra admin center Agent ID, the 'REFUSED ado' line from demo-toolbox.ps1 -TryAsMe, then the wiki history commit authored by the agent user after John's Teams Approve. Be honest about the security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answers 'what runs in my project' for builders. Agent 365 answers 'which agents exist in my tenant, who owns them, and what can they touch' for IT and security. Because the agent already has its own Entra identity with scoped rights, it slots straight in. Agent 365 does not change how the agent runs; it changes who can see it, review it and switch it off. Mention residency for regulated customers. Hand over to Louise.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D"/>
        </a:solidFill>
      </p:bgPr>
    </p:bg>
    <p:spTree>
      <p:nvGrpSpPr>
        <p:cNvPr id="1" name=""/>
        <p:cNvGrpSpPr/>
        <p:nvPr/>
      </p:nvGrpSpPr>
      <p:grpSpPr>
        <a:xfrm>
          <a:off x="0" y="0"/>
          <a:ext cx="0" cy="0"/>
          <a:chOff x="0" y="0"/>
          <a:chExt cx="0" cy="0"/>
        </a:xfrm>
      </p:grpSpPr>
      <p:sp>
        <p:nvSpPr>
          <p:cNvPr id="2" name="Text 0"/>
          <p:cNvSpPr/>
          <p:nvPr/>
        </p:nvSpPr>
        <p:spPr>
          <a:xfrm>
            <a:off x="548640" y="822960"/>
            <a:ext cx="8046720"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nsolas" pitchFamily="34" charset="0"/>
                <a:ea typeface="Consolas" pitchFamily="34" charset="-122"/>
                <a:cs typeface="Consolas" pitchFamily="34" charset="-120"/>
              </a:rPr>
              <a:t>P2 · KNOWLEDGE &amp; IDENTITY · 10:30–11:10</a:t>
            </a:r>
            <a:endParaRPr lang="en-US" sz="1100" dirty="0"/>
          </a:p>
        </p:txBody>
      </p:sp>
      <p:sp>
        <p:nvSpPr>
          <p:cNvPr id="3" name="Text 1"/>
          <p:cNvSpPr/>
          <p:nvPr/>
        </p:nvSpPr>
        <p:spPr>
          <a:xfrm>
            <a:off x="548640" y="1234440"/>
            <a:ext cx="7863840" cy="1371600"/>
          </a:xfrm>
          <a:prstGeom prst="rect">
            <a:avLst/>
          </a:prstGeom>
          <a:noFill/>
          <a:ln/>
        </p:spPr>
        <p:txBody>
          <a:bodyPr wrap="square" lIns="0" tIns="0" rIns="0" bIns="0" rtlCol="0" anchor="t"/>
          <a:lstStyle/>
          <a:p>
            <a:pPr indent="0" marL="0">
              <a:buNone/>
            </a:pPr>
            <a:r>
              <a:rPr lang="en-US" sz="3400" dirty="0">
                <a:solidFill>
                  <a:srgbClr val="FFFFFF"/>
                </a:solidFill>
                <a:latin typeface="Segoe UI Semibold" pitchFamily="34" charset="0"/>
                <a:ea typeface="Segoe UI Semibold" pitchFamily="34" charset="-122"/>
                <a:cs typeface="Segoe UI Semibold" pitchFamily="34" charset="-120"/>
              </a:rPr>
              <a:t>Where the agent's facts come from, and who it is when it uses them</a:t>
            </a:r>
            <a:endParaRPr lang="en-US" sz="3400" dirty="0"/>
          </a:p>
        </p:txBody>
      </p:sp>
      <p:sp>
        <p:nvSpPr>
          <p:cNvPr id="4" name="Shape 2"/>
          <p:cNvSpPr/>
          <p:nvPr/>
        </p:nvSpPr>
        <p:spPr>
          <a:xfrm>
            <a:off x="548640" y="2926080"/>
            <a:ext cx="457200" cy="457200"/>
          </a:xfrm>
          <a:prstGeom prst="ellipse">
            <a:avLst/>
          </a:prstGeom>
          <a:solidFill>
            <a:srgbClr val="F2A93B"/>
          </a:solidFill>
          <a:ln w="19050">
            <a:solidFill>
              <a:srgbClr val="F2A93B"/>
            </a:solidFill>
            <a:prstDash val="solid"/>
          </a:ln>
        </p:spPr>
      </p:sp>
      <p:sp>
        <p:nvSpPr>
          <p:cNvPr id="5" name="Text 3"/>
          <p:cNvSpPr/>
          <p:nvPr/>
        </p:nvSpPr>
        <p:spPr>
          <a:xfrm>
            <a:off x="548640" y="2926080"/>
            <a:ext cx="457200" cy="457200"/>
          </a:xfrm>
          <a:prstGeom prst="rect">
            <a:avLst/>
          </a:prstGeom>
          <a:noFill/>
          <a:ln/>
        </p:spPr>
        <p:txBody>
          <a:bodyPr wrap="square" lIns="0" tIns="0" rIns="0" bIns="0" rtlCol="0" anchor="ctr"/>
          <a:lstStyle/>
          <a:p>
            <a:pPr algn="ctr" indent="0" marL="0">
              <a:buNone/>
            </a:pPr>
            <a:r>
              <a:rPr lang="en-US" sz="1400" dirty="0">
                <a:solidFill>
                  <a:srgbClr val="0F2A3D"/>
                </a:solidFill>
                <a:latin typeface="Segoe UI Semibold" pitchFamily="34" charset="0"/>
                <a:ea typeface="Segoe UI Semibold" pitchFamily="34" charset="-122"/>
                <a:cs typeface="Segoe UI Semibold" pitchFamily="34" charset="-120"/>
              </a:rPr>
              <a:t>1</a:t>
            </a:r>
            <a:endParaRPr lang="en-US" sz="1400" dirty="0"/>
          </a:p>
        </p:txBody>
      </p:sp>
      <p:sp>
        <p:nvSpPr>
          <p:cNvPr id="6" name="Text 4"/>
          <p:cNvSpPr/>
          <p:nvPr/>
        </p:nvSpPr>
        <p:spPr>
          <a:xfrm>
            <a:off x="1115568" y="2926080"/>
            <a:ext cx="1371600" cy="457200"/>
          </a:xfrm>
          <a:prstGeom prst="rect">
            <a:avLst/>
          </a:prstGeom>
          <a:noFill/>
          <a:ln/>
        </p:spPr>
        <p:txBody>
          <a:bodyPr wrap="square" lIns="0" tIns="0" rIns="0" bIns="0"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Foundry IQ</a:t>
            </a:r>
            <a:endParaRPr lang="en-US" sz="1400" dirty="0"/>
          </a:p>
        </p:txBody>
      </p:sp>
      <p:sp>
        <p:nvSpPr>
          <p:cNvPr id="7" name="Shape 5"/>
          <p:cNvSpPr/>
          <p:nvPr/>
        </p:nvSpPr>
        <p:spPr>
          <a:xfrm>
            <a:off x="2560320" y="2926080"/>
            <a:ext cx="457200" cy="457200"/>
          </a:xfrm>
          <a:prstGeom prst="ellipse">
            <a:avLst/>
          </a:prstGeom>
          <a:solidFill>
            <a:srgbClr val="F2A93B"/>
          </a:solidFill>
          <a:ln w="19050">
            <a:solidFill>
              <a:srgbClr val="F2A93B"/>
            </a:solidFill>
            <a:prstDash val="solid"/>
          </a:ln>
        </p:spPr>
      </p:sp>
      <p:sp>
        <p:nvSpPr>
          <p:cNvPr id="8" name="Text 6"/>
          <p:cNvSpPr/>
          <p:nvPr/>
        </p:nvSpPr>
        <p:spPr>
          <a:xfrm>
            <a:off x="2560320" y="2926080"/>
            <a:ext cx="457200" cy="457200"/>
          </a:xfrm>
          <a:prstGeom prst="rect">
            <a:avLst/>
          </a:prstGeom>
          <a:noFill/>
          <a:ln/>
        </p:spPr>
        <p:txBody>
          <a:bodyPr wrap="square" lIns="0" tIns="0" rIns="0" bIns="0" rtlCol="0" anchor="ctr"/>
          <a:lstStyle/>
          <a:p>
            <a:pPr algn="ctr" indent="0" marL="0">
              <a:buNone/>
            </a:pPr>
            <a:r>
              <a:rPr lang="en-US" sz="1400" dirty="0">
                <a:solidFill>
                  <a:srgbClr val="0F2A3D"/>
                </a:solidFill>
                <a:latin typeface="Segoe UI Semibold" pitchFamily="34" charset="0"/>
                <a:ea typeface="Segoe UI Semibold" pitchFamily="34" charset="-122"/>
                <a:cs typeface="Segoe UI Semibold" pitchFamily="34" charset="-120"/>
              </a:rPr>
              <a:t>2</a:t>
            </a:r>
            <a:endParaRPr lang="en-US" sz="1400" dirty="0"/>
          </a:p>
        </p:txBody>
      </p:sp>
      <p:sp>
        <p:nvSpPr>
          <p:cNvPr id="9" name="Text 7"/>
          <p:cNvSpPr/>
          <p:nvPr/>
        </p:nvSpPr>
        <p:spPr>
          <a:xfrm>
            <a:off x="3127248" y="2926080"/>
            <a:ext cx="1371600" cy="457200"/>
          </a:xfrm>
          <a:prstGeom prst="rect">
            <a:avLst/>
          </a:prstGeom>
          <a:noFill/>
          <a:ln/>
        </p:spPr>
        <p:txBody>
          <a:bodyPr wrap="square" lIns="0" tIns="0" rIns="0" bIns="0"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Toolbox</a:t>
            </a:r>
            <a:endParaRPr lang="en-US" sz="1400" dirty="0"/>
          </a:p>
        </p:txBody>
      </p:sp>
      <p:sp>
        <p:nvSpPr>
          <p:cNvPr id="10" name="Shape 8"/>
          <p:cNvSpPr/>
          <p:nvPr/>
        </p:nvSpPr>
        <p:spPr>
          <a:xfrm>
            <a:off x="4572000" y="2926080"/>
            <a:ext cx="457200" cy="457200"/>
          </a:xfrm>
          <a:prstGeom prst="ellipse">
            <a:avLst/>
          </a:prstGeom>
          <a:solidFill>
            <a:srgbClr val="F2A93B"/>
          </a:solidFill>
          <a:ln w="19050">
            <a:solidFill>
              <a:srgbClr val="F2A93B"/>
            </a:solidFill>
            <a:prstDash val="solid"/>
          </a:ln>
        </p:spPr>
      </p:sp>
      <p:sp>
        <p:nvSpPr>
          <p:cNvPr id="11" name="Text 9"/>
          <p:cNvSpPr/>
          <p:nvPr/>
        </p:nvSpPr>
        <p:spPr>
          <a:xfrm>
            <a:off x="4572000" y="2926080"/>
            <a:ext cx="457200" cy="457200"/>
          </a:xfrm>
          <a:prstGeom prst="rect">
            <a:avLst/>
          </a:prstGeom>
          <a:noFill/>
          <a:ln/>
        </p:spPr>
        <p:txBody>
          <a:bodyPr wrap="square" lIns="0" tIns="0" rIns="0" bIns="0" rtlCol="0" anchor="ctr"/>
          <a:lstStyle/>
          <a:p>
            <a:pPr algn="ctr" indent="0" marL="0">
              <a:buNone/>
            </a:pPr>
            <a:r>
              <a:rPr lang="en-US" sz="1400" dirty="0">
                <a:solidFill>
                  <a:srgbClr val="0F2A3D"/>
                </a:solidFill>
                <a:latin typeface="Segoe UI Semibold" pitchFamily="34" charset="0"/>
                <a:ea typeface="Segoe UI Semibold" pitchFamily="34" charset="-122"/>
                <a:cs typeface="Segoe UI Semibold" pitchFamily="34" charset="-120"/>
              </a:rPr>
              <a:t>3</a:t>
            </a:r>
            <a:endParaRPr lang="en-US" sz="1400" dirty="0"/>
          </a:p>
        </p:txBody>
      </p:sp>
      <p:sp>
        <p:nvSpPr>
          <p:cNvPr id="12" name="Text 10"/>
          <p:cNvSpPr/>
          <p:nvPr/>
        </p:nvSpPr>
        <p:spPr>
          <a:xfrm>
            <a:off x="5138928" y="2926080"/>
            <a:ext cx="1371600" cy="457200"/>
          </a:xfrm>
          <a:prstGeom prst="rect">
            <a:avLst/>
          </a:prstGeom>
          <a:noFill/>
          <a:ln/>
        </p:spPr>
        <p:txBody>
          <a:bodyPr wrap="square" lIns="0" tIns="0" rIns="0" bIns="0"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Agent identity</a:t>
            </a:r>
            <a:endParaRPr lang="en-US" sz="1400" dirty="0"/>
          </a:p>
        </p:txBody>
      </p:sp>
      <p:sp>
        <p:nvSpPr>
          <p:cNvPr id="13" name="Shape 11"/>
          <p:cNvSpPr/>
          <p:nvPr/>
        </p:nvSpPr>
        <p:spPr>
          <a:xfrm>
            <a:off x="6583680" y="2926080"/>
            <a:ext cx="457200" cy="457200"/>
          </a:xfrm>
          <a:prstGeom prst="ellipse">
            <a:avLst/>
          </a:prstGeom>
          <a:solidFill>
            <a:srgbClr val="F2A93B"/>
          </a:solidFill>
          <a:ln w="19050">
            <a:solidFill>
              <a:srgbClr val="F2A93B"/>
            </a:solidFill>
            <a:prstDash val="solid"/>
          </a:ln>
        </p:spPr>
      </p:sp>
      <p:sp>
        <p:nvSpPr>
          <p:cNvPr id="14" name="Text 12"/>
          <p:cNvSpPr/>
          <p:nvPr/>
        </p:nvSpPr>
        <p:spPr>
          <a:xfrm>
            <a:off x="6583680" y="2926080"/>
            <a:ext cx="457200" cy="457200"/>
          </a:xfrm>
          <a:prstGeom prst="rect">
            <a:avLst/>
          </a:prstGeom>
          <a:noFill/>
          <a:ln/>
        </p:spPr>
        <p:txBody>
          <a:bodyPr wrap="square" lIns="0" tIns="0" rIns="0" bIns="0" rtlCol="0" anchor="ctr"/>
          <a:lstStyle/>
          <a:p>
            <a:pPr algn="ctr" indent="0" marL="0">
              <a:buNone/>
            </a:pPr>
            <a:r>
              <a:rPr lang="en-US" sz="1400" dirty="0">
                <a:solidFill>
                  <a:srgbClr val="0F2A3D"/>
                </a:solidFill>
                <a:latin typeface="Segoe UI Semibold" pitchFamily="34" charset="0"/>
                <a:ea typeface="Segoe UI Semibold" pitchFamily="34" charset="-122"/>
                <a:cs typeface="Segoe UI Semibold" pitchFamily="34" charset="-120"/>
              </a:rPr>
              <a:t>4</a:t>
            </a:r>
            <a:endParaRPr lang="en-US" sz="1400" dirty="0"/>
          </a:p>
        </p:txBody>
      </p:sp>
      <p:sp>
        <p:nvSpPr>
          <p:cNvPr id="15" name="Text 13"/>
          <p:cNvSpPr/>
          <p:nvPr/>
        </p:nvSpPr>
        <p:spPr>
          <a:xfrm>
            <a:off x="7150608" y="2926080"/>
            <a:ext cx="1371600" cy="457200"/>
          </a:xfrm>
          <a:prstGeom prst="rect">
            <a:avLst/>
          </a:prstGeom>
          <a:noFill/>
          <a:ln/>
        </p:spPr>
        <p:txBody>
          <a:bodyPr wrap="square" lIns="0" tIns="0" rIns="0" bIns="0" rtlCol="0" anchor="ctr"/>
          <a:lstStyle/>
          <a:p>
            <a:pPr indent="0" marL="0">
              <a:buNone/>
            </a:pPr>
            <a:r>
              <a:rPr lang="en-US" sz="1400" dirty="0">
                <a:solidFill>
                  <a:srgbClr val="FFFFFF"/>
                </a:solidFill>
                <a:latin typeface="Segoe UI" pitchFamily="34" charset="0"/>
                <a:ea typeface="Segoe UI" pitchFamily="34" charset="-122"/>
                <a:cs typeface="Segoe UI" pitchFamily="34" charset="-120"/>
              </a:rPr>
              <a:t>Agent 365</a:t>
            </a:r>
            <a:endParaRPr lang="en-US" sz="1400" dirty="0"/>
          </a:p>
        </p:txBody>
      </p:sp>
      <p:sp>
        <p:nvSpPr>
          <p:cNvPr id="16" name="Text 14"/>
          <p:cNvSpPr/>
          <p:nvPr/>
        </p:nvSpPr>
        <p:spPr>
          <a:xfrm>
            <a:off x="548640" y="4206240"/>
            <a:ext cx="8046720" cy="274320"/>
          </a:xfrm>
          <a:prstGeom prst="rect">
            <a:avLst/>
          </a:prstGeom>
          <a:noFill/>
          <a:ln/>
        </p:spPr>
        <p:txBody>
          <a:bodyPr wrap="square" lIns="0" tIns="0" rIns="0" bIns="0" rtlCol="0" anchor="ctr"/>
          <a:lstStyle/>
          <a:p>
            <a:pPr indent="0" marL="0">
              <a:buNone/>
            </a:pPr>
            <a:r>
              <a:rPr lang="en-US" sz="1200" dirty="0">
                <a:solidFill>
                  <a:srgbClr val="C6D4DE"/>
                </a:solidFill>
                <a:latin typeface="Segoe UI" pitchFamily="34" charset="0"/>
                <a:ea typeface="Segoe UI" pitchFamily="34" charset="-122"/>
                <a:cs typeface="Segoe UI" pitchFamily="34" charset="-120"/>
              </a:rPr>
              <a:t>Rickard Widholm  ·  Documentation Agent on Microsoft Foundry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000" spc="300" kern="0" dirty="0">
                <a:solidFill>
                  <a:srgbClr val="1F7A8C"/>
                </a:solidFill>
                <a:latin typeface="Consolas" pitchFamily="34" charset="0"/>
                <a:ea typeface="Consolas" pitchFamily="34" charset="-122"/>
                <a:cs typeface="Consolas" pitchFamily="34" charset="-120"/>
              </a:rPr>
              <a:t>1 · FOUNDRY IQ</a:t>
            </a:r>
            <a:endParaRPr lang="en-US" sz="1000" dirty="0"/>
          </a:p>
        </p:txBody>
      </p:sp>
      <p:sp>
        <p:nvSpPr>
          <p:cNvPr id="3" name="Text 1"/>
          <p:cNvSpPr/>
          <p:nvPr/>
        </p:nvSpPr>
        <p:spPr>
          <a:xfrm>
            <a:off x="457200" y="566928"/>
            <a:ext cx="8229600" cy="640080"/>
          </a:xfrm>
          <a:prstGeom prst="rect">
            <a:avLst/>
          </a:prstGeom>
          <a:noFill/>
          <a:ln/>
        </p:spPr>
        <p:txBody>
          <a:bodyPr wrap="square" lIns="0" tIns="0" rIns="0" bIns="0" rtlCol="0" anchor="ctr"/>
          <a:lstStyle/>
          <a:p>
            <a:pPr indent="0" marL="0">
              <a:buNone/>
            </a:pPr>
            <a:r>
              <a:rPr lang="en-US" sz="3000" dirty="0">
                <a:solidFill>
                  <a:srgbClr val="1B2B38"/>
                </a:solidFill>
                <a:latin typeface="Segoe UI Semibold" pitchFamily="34" charset="0"/>
                <a:ea typeface="Segoe UI Semibold" pitchFamily="34" charset="-122"/>
                <a:cs typeface="Segoe UI Semibold" pitchFamily="34" charset="-120"/>
              </a:rPr>
              <a:t>Stable rules, retrieved as a tool</a:t>
            </a:r>
            <a:endParaRPr lang="en-US" sz="3000" dirty="0"/>
          </a:p>
        </p:txBody>
      </p:sp>
      <p:sp>
        <p:nvSpPr>
          <p:cNvPr id="4" name="Shape 2"/>
          <p:cNvSpPr/>
          <p:nvPr/>
        </p:nvSpPr>
        <p:spPr>
          <a:xfrm>
            <a:off x="457200" y="1417320"/>
            <a:ext cx="1851660" cy="1143000"/>
          </a:xfrm>
          <a:prstGeom prst="rect">
            <a:avLst/>
          </a:prstGeom>
          <a:solidFill>
            <a:srgbClr val="FFFFFF"/>
          </a:solidFill>
          <a:ln w="12700">
            <a:solidFill>
              <a:srgbClr val="D5DCE2"/>
            </a:solidFill>
            <a:prstDash val="solid"/>
          </a:ln>
        </p:spPr>
      </p:sp>
      <p:sp>
        <p:nvSpPr>
          <p:cNvPr id="5" name="Shape 3"/>
          <p:cNvSpPr/>
          <p:nvPr/>
        </p:nvSpPr>
        <p:spPr>
          <a:xfrm>
            <a:off x="457200" y="1417320"/>
            <a:ext cx="54864" cy="1143000"/>
          </a:xfrm>
          <a:prstGeom prst="rect">
            <a:avLst/>
          </a:prstGeom>
          <a:solidFill>
            <a:srgbClr val="F2A93B"/>
          </a:solidFill>
          <a:ln/>
        </p:spPr>
      </p:sp>
      <p:sp>
        <p:nvSpPr>
          <p:cNvPr id="6" name="Text 4"/>
          <p:cNvSpPr/>
          <p:nvPr/>
        </p:nvSpPr>
        <p:spPr>
          <a:xfrm>
            <a:off x="621792" y="152704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Our standard</a:t>
            </a:r>
            <a:endParaRPr lang="en-US" sz="1300" dirty="0"/>
          </a:p>
        </p:txBody>
      </p:sp>
      <p:sp>
        <p:nvSpPr>
          <p:cNvPr id="7" name="Text 5"/>
          <p:cNvSpPr/>
          <p:nvPr/>
        </p:nvSpPr>
        <p:spPr>
          <a:xfrm>
            <a:off x="621792" y="1920240"/>
            <a:ext cx="1595628" cy="548640"/>
          </a:xfrm>
          <a:prstGeom prst="rect">
            <a:avLst/>
          </a:prstGeom>
          <a:noFill/>
          <a:ln/>
        </p:spPr>
        <p:txBody>
          <a:bodyPr wrap="square" lIns="0" tIns="0" rIns="0" bIns="0" rtlCol="0" anchor="t"/>
          <a:lstStyle/>
          <a:p>
            <a:pPr indent="0" marL="0">
              <a:buNone/>
            </a:pPr>
            <a:r>
              <a:rPr lang="en-US" sz="1100" dirty="0">
                <a:solidFill>
                  <a:srgbClr val="5B6B7A"/>
                </a:solidFill>
                <a:latin typeface="Segoe UI" pitchFamily="34" charset="0"/>
                <a:ea typeface="Segoe UI" pitchFamily="34" charset="-122"/>
                <a:cs typeface="Segoe UI" pitchFamily="34" charset="-120"/>
              </a:rPr>
              <a:t>Documentation rules with IDs DS-10 … DS-31</a:t>
            </a:r>
            <a:endParaRPr lang="en-US" sz="1100" dirty="0"/>
          </a:p>
        </p:txBody>
      </p:sp>
      <p:sp>
        <p:nvSpPr>
          <p:cNvPr id="8" name="Text 6"/>
          <p:cNvSpPr/>
          <p:nvPr/>
        </p:nvSpPr>
        <p:spPr>
          <a:xfrm>
            <a:off x="2308860" y="1805940"/>
            <a:ext cx="274320" cy="365760"/>
          </a:xfrm>
          <a:prstGeom prst="rect">
            <a:avLst/>
          </a:prstGeom>
          <a:noFill/>
          <a:ln/>
        </p:spPr>
        <p:txBody>
          <a:bodyPr wrap="square" lIns="0" tIns="0" rIns="0" bIns="0" rtlCol="0" anchor="ctr"/>
          <a:lstStyle/>
          <a:p>
            <a:pPr algn="ctr" indent="0" marL="0">
              <a:buNone/>
            </a:pPr>
            <a:r>
              <a:rPr lang="en-US" sz="1600" dirty="0">
                <a:solidFill>
                  <a:srgbClr val="1F7A8C"/>
                </a:solidFill>
                <a:latin typeface="Segoe UI" pitchFamily="34" charset="0"/>
                <a:ea typeface="Segoe UI" pitchFamily="34" charset="-122"/>
                <a:cs typeface="Segoe UI" pitchFamily="34" charset="-120"/>
              </a:rPr>
              <a:t>→</a:t>
            </a:r>
            <a:endParaRPr lang="en-US" sz="1600" dirty="0"/>
          </a:p>
        </p:txBody>
      </p:sp>
      <p:sp>
        <p:nvSpPr>
          <p:cNvPr id="9" name="Shape 7"/>
          <p:cNvSpPr/>
          <p:nvPr/>
        </p:nvSpPr>
        <p:spPr>
          <a:xfrm>
            <a:off x="2583180" y="1417320"/>
            <a:ext cx="1851660" cy="1143000"/>
          </a:xfrm>
          <a:prstGeom prst="rect">
            <a:avLst/>
          </a:prstGeom>
          <a:solidFill>
            <a:srgbClr val="FFFFFF"/>
          </a:solidFill>
          <a:ln w="12700">
            <a:solidFill>
              <a:srgbClr val="D5DCE2"/>
            </a:solidFill>
            <a:prstDash val="solid"/>
          </a:ln>
        </p:spPr>
      </p:sp>
      <p:sp>
        <p:nvSpPr>
          <p:cNvPr id="10" name="Shape 8"/>
          <p:cNvSpPr/>
          <p:nvPr/>
        </p:nvSpPr>
        <p:spPr>
          <a:xfrm>
            <a:off x="2583180" y="1417320"/>
            <a:ext cx="54864" cy="1143000"/>
          </a:xfrm>
          <a:prstGeom prst="rect">
            <a:avLst/>
          </a:prstGeom>
          <a:solidFill>
            <a:srgbClr val="F2A93B"/>
          </a:solidFill>
          <a:ln/>
        </p:spPr>
      </p:sp>
      <p:sp>
        <p:nvSpPr>
          <p:cNvPr id="11" name="Text 9"/>
          <p:cNvSpPr/>
          <p:nvPr/>
        </p:nvSpPr>
        <p:spPr>
          <a:xfrm>
            <a:off x="2747772" y="152704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Search index</a:t>
            </a:r>
            <a:endParaRPr lang="en-US" sz="1300" dirty="0"/>
          </a:p>
        </p:txBody>
      </p:sp>
      <p:sp>
        <p:nvSpPr>
          <p:cNvPr id="12" name="Text 10"/>
          <p:cNvSpPr/>
          <p:nvPr/>
        </p:nvSpPr>
        <p:spPr>
          <a:xfrm>
            <a:off x="2747772" y="1920240"/>
            <a:ext cx="1595628" cy="548640"/>
          </a:xfrm>
          <a:prstGeom prst="rect">
            <a:avLst/>
          </a:prstGeom>
          <a:noFill/>
          <a:ln/>
        </p:spPr>
        <p:txBody>
          <a:bodyPr wrap="square" lIns="0" tIns="0" rIns="0" bIns="0" rtlCol="0" anchor="t"/>
          <a:lstStyle/>
          <a:p>
            <a:pPr indent="0" marL="0">
              <a:buNone/>
            </a:pPr>
            <a:r>
              <a:rPr lang="en-US" sz="1000" dirty="0">
                <a:solidFill>
                  <a:srgbClr val="5B6B7A"/>
                </a:solidFill>
                <a:latin typeface="Consolas" pitchFamily="34" charset="0"/>
                <a:ea typeface="Consolas" pitchFamily="34" charset="-122"/>
                <a:cs typeface="Consolas" pitchFamily="34" charset="-120"/>
              </a:rPr>
              <a:t>doc-knowledge, one document per section</a:t>
            </a:r>
            <a:endParaRPr lang="en-US" sz="1000" dirty="0"/>
          </a:p>
        </p:txBody>
      </p:sp>
      <p:sp>
        <p:nvSpPr>
          <p:cNvPr id="13" name="Text 11"/>
          <p:cNvSpPr/>
          <p:nvPr/>
        </p:nvSpPr>
        <p:spPr>
          <a:xfrm>
            <a:off x="4434840" y="1805940"/>
            <a:ext cx="274320" cy="365760"/>
          </a:xfrm>
          <a:prstGeom prst="rect">
            <a:avLst/>
          </a:prstGeom>
          <a:noFill/>
          <a:ln/>
        </p:spPr>
        <p:txBody>
          <a:bodyPr wrap="square" lIns="0" tIns="0" rIns="0" bIns="0" rtlCol="0" anchor="ctr"/>
          <a:lstStyle/>
          <a:p>
            <a:pPr algn="ctr" indent="0" marL="0">
              <a:buNone/>
            </a:pPr>
            <a:r>
              <a:rPr lang="en-US" sz="1600" dirty="0">
                <a:solidFill>
                  <a:srgbClr val="1F7A8C"/>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709160" y="1417320"/>
            <a:ext cx="1851660" cy="1143000"/>
          </a:xfrm>
          <a:prstGeom prst="rect">
            <a:avLst/>
          </a:prstGeom>
          <a:solidFill>
            <a:srgbClr val="FFFFFF"/>
          </a:solidFill>
          <a:ln w="12700">
            <a:solidFill>
              <a:srgbClr val="D5DCE2"/>
            </a:solidFill>
            <a:prstDash val="solid"/>
          </a:ln>
        </p:spPr>
      </p:sp>
      <p:sp>
        <p:nvSpPr>
          <p:cNvPr id="15" name="Shape 13"/>
          <p:cNvSpPr/>
          <p:nvPr/>
        </p:nvSpPr>
        <p:spPr>
          <a:xfrm>
            <a:off x="4709160" y="1417320"/>
            <a:ext cx="54864" cy="1143000"/>
          </a:xfrm>
          <a:prstGeom prst="rect">
            <a:avLst/>
          </a:prstGeom>
          <a:solidFill>
            <a:srgbClr val="F2A93B"/>
          </a:solidFill>
          <a:ln/>
        </p:spPr>
      </p:sp>
      <p:sp>
        <p:nvSpPr>
          <p:cNvPr id="16" name="Text 14"/>
          <p:cNvSpPr/>
          <p:nvPr/>
        </p:nvSpPr>
        <p:spPr>
          <a:xfrm>
            <a:off x="4873752" y="152704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Knowledge base</a:t>
            </a:r>
            <a:endParaRPr lang="en-US" sz="1300" dirty="0"/>
          </a:p>
        </p:txBody>
      </p:sp>
      <p:sp>
        <p:nvSpPr>
          <p:cNvPr id="17" name="Text 15"/>
          <p:cNvSpPr/>
          <p:nvPr/>
        </p:nvSpPr>
        <p:spPr>
          <a:xfrm>
            <a:off x="4873752" y="1920240"/>
            <a:ext cx="1595628" cy="548640"/>
          </a:xfrm>
          <a:prstGeom prst="rect">
            <a:avLst/>
          </a:prstGeom>
          <a:noFill/>
          <a:ln/>
        </p:spPr>
        <p:txBody>
          <a:bodyPr wrap="square" lIns="0" tIns="0" rIns="0" bIns="0" rtlCol="0" anchor="t"/>
          <a:lstStyle/>
          <a:p>
            <a:pPr indent="0" marL="0">
              <a:buNone/>
            </a:pPr>
            <a:r>
              <a:rPr lang="en-US" sz="1000" dirty="0">
                <a:solidFill>
                  <a:srgbClr val="5B6B7A"/>
                </a:solidFill>
                <a:latin typeface="Consolas" pitchFamily="34" charset="0"/>
                <a:ea typeface="Consolas" pitchFamily="34" charset="-122"/>
                <a:cs typeface="Consolas" pitchFamily="34" charset="-120"/>
              </a:rPr>
              <a:t>kb-doc-agent, agentic retrieval</a:t>
            </a:r>
            <a:endParaRPr lang="en-US" sz="1000" dirty="0"/>
          </a:p>
        </p:txBody>
      </p:sp>
      <p:sp>
        <p:nvSpPr>
          <p:cNvPr id="18" name="Text 16"/>
          <p:cNvSpPr/>
          <p:nvPr/>
        </p:nvSpPr>
        <p:spPr>
          <a:xfrm>
            <a:off x="6560820" y="1805940"/>
            <a:ext cx="274320" cy="365760"/>
          </a:xfrm>
          <a:prstGeom prst="rect">
            <a:avLst/>
          </a:prstGeom>
          <a:noFill/>
          <a:ln/>
        </p:spPr>
        <p:txBody>
          <a:bodyPr wrap="square" lIns="0" tIns="0" rIns="0" bIns="0" rtlCol="0" anchor="ctr"/>
          <a:lstStyle/>
          <a:p>
            <a:pPr algn="ctr" indent="0" marL="0">
              <a:buNone/>
            </a:pPr>
            <a:r>
              <a:rPr lang="en-US" sz="1600" dirty="0">
                <a:solidFill>
                  <a:srgbClr val="1F7A8C"/>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6835140" y="1417320"/>
            <a:ext cx="1851660" cy="1143000"/>
          </a:xfrm>
          <a:prstGeom prst="rect">
            <a:avLst/>
          </a:prstGeom>
          <a:solidFill>
            <a:srgbClr val="DCEEF1"/>
          </a:solidFill>
          <a:ln w="12700">
            <a:solidFill>
              <a:srgbClr val="1F7A8C"/>
            </a:solidFill>
            <a:prstDash val="solid"/>
          </a:ln>
        </p:spPr>
      </p:sp>
      <p:sp>
        <p:nvSpPr>
          <p:cNvPr id="20" name="Shape 18"/>
          <p:cNvSpPr/>
          <p:nvPr/>
        </p:nvSpPr>
        <p:spPr>
          <a:xfrm>
            <a:off x="6835140" y="1417320"/>
            <a:ext cx="54864" cy="1143000"/>
          </a:xfrm>
          <a:prstGeom prst="rect">
            <a:avLst/>
          </a:prstGeom>
          <a:solidFill>
            <a:srgbClr val="1F7A8C"/>
          </a:solidFill>
          <a:ln/>
        </p:spPr>
      </p:sp>
      <p:sp>
        <p:nvSpPr>
          <p:cNvPr id="21" name="Text 19"/>
          <p:cNvSpPr/>
          <p:nvPr/>
        </p:nvSpPr>
        <p:spPr>
          <a:xfrm>
            <a:off x="6999732" y="152704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MCP tool</a:t>
            </a:r>
            <a:endParaRPr lang="en-US" sz="1300" dirty="0"/>
          </a:p>
        </p:txBody>
      </p:sp>
      <p:sp>
        <p:nvSpPr>
          <p:cNvPr id="22" name="Text 20"/>
          <p:cNvSpPr/>
          <p:nvPr/>
        </p:nvSpPr>
        <p:spPr>
          <a:xfrm>
            <a:off x="6999732" y="1920240"/>
            <a:ext cx="1595628" cy="548640"/>
          </a:xfrm>
          <a:prstGeom prst="rect">
            <a:avLst/>
          </a:prstGeom>
          <a:noFill/>
          <a:ln/>
        </p:spPr>
        <p:txBody>
          <a:bodyPr wrap="square" lIns="0" tIns="0" rIns="0" bIns="0" rtlCol="0" anchor="t"/>
          <a:lstStyle/>
          <a:p>
            <a:pPr indent="0" marL="0">
              <a:buNone/>
            </a:pPr>
            <a:r>
              <a:rPr lang="en-US" sz="1100" dirty="0">
                <a:solidFill>
                  <a:srgbClr val="5B6B7A"/>
                </a:solidFill>
                <a:latin typeface="Segoe UI" pitchFamily="34" charset="0"/>
                <a:ea typeface="Segoe UI" pitchFamily="34" charset="-122"/>
                <a:cs typeface="Segoe UI" pitchFamily="34" charset="-120"/>
              </a:rPr>
              <a:t>The agent calls it like any other tool</a:t>
            </a:r>
            <a:endParaRPr lang="en-US" sz="1100" dirty="0"/>
          </a:p>
        </p:txBody>
      </p:sp>
      <p:sp>
        <p:nvSpPr>
          <p:cNvPr id="23" name="Shape 21"/>
          <p:cNvSpPr/>
          <p:nvPr/>
        </p:nvSpPr>
        <p:spPr>
          <a:xfrm>
            <a:off x="457200" y="2880360"/>
            <a:ext cx="3977640" cy="1325880"/>
          </a:xfrm>
          <a:prstGeom prst="rect">
            <a:avLst/>
          </a:prstGeom>
          <a:solidFill>
            <a:srgbClr val="FFFFFF"/>
          </a:solidFill>
          <a:ln w="12700">
            <a:solidFill>
              <a:srgbClr val="D5DCE2"/>
            </a:solidFill>
            <a:prstDash val="solid"/>
          </a:ln>
        </p:spPr>
      </p:sp>
      <p:sp>
        <p:nvSpPr>
          <p:cNvPr id="24" name="Text 22"/>
          <p:cNvSpPr/>
          <p:nvPr/>
        </p:nvSpPr>
        <p:spPr>
          <a:xfrm>
            <a:off x="640080" y="2971800"/>
            <a:ext cx="3657600" cy="1143000"/>
          </a:xfrm>
          <a:prstGeom prst="rect">
            <a:avLst/>
          </a:prstGeom>
          <a:noFill/>
          <a:ln/>
        </p:spPr>
        <p:txBody>
          <a:bodyPr wrap="square" lIns="0" tIns="0" rIns="0" bIns="0" rtlCol="0" anchor="t"/>
          <a:lstStyle/>
          <a:p>
            <a:pPr indent="0" marL="0">
              <a:spcAft>
                <a:spcPts val="600"/>
              </a:spcAft>
              <a:buNone/>
            </a:pPr>
            <a:r>
              <a:rPr lang="en-US" sz="1300" dirty="0">
                <a:solidFill>
                  <a:srgbClr val="1F7A8C"/>
                </a:solidFill>
                <a:latin typeface="Segoe UI Semibold" pitchFamily="34" charset="0"/>
                <a:ea typeface="Segoe UI Semibold" pitchFamily="34" charset="-122"/>
                <a:cs typeface="Segoe UI Semibold" pitchFamily="34" charset="-120"/>
              </a:rPr>
              <a:t>Indexed in Foundry IQ</a:t>
            </a:r>
            <a:endParaRPr lang="en-US" sz="1300" dirty="0"/>
          </a:p>
          <a:p>
            <a:pPr indent="0" marL="0">
              <a:spcAft>
                <a:spcPts val="600"/>
              </a:spcAft>
              <a:buNone/>
            </a:pPr>
            <a:r>
              <a:rPr lang="en-US" sz="1200" dirty="0">
                <a:solidFill>
                  <a:srgbClr val="1B2B38"/>
                </a:solidFill>
                <a:latin typeface="Segoe UI" pitchFamily="34" charset="0"/>
                <a:ea typeface="Segoe UI" pitchFamily="34" charset="-122"/>
                <a:cs typeface="Segoe UI" pitchFamily="34" charset="-120"/>
              </a:rPr>
              <a:t>Rules that rarely change. Findings cite them by ID, e.g. </a:t>
            </a:r>
            <a:pPr indent="0" marL="0">
              <a:spcAft>
                <a:spcPts val="600"/>
              </a:spcAft>
              <a:buNone/>
            </a:pPr>
            <a:r>
              <a:rPr lang="en-US" sz="1100" b="1" dirty="0">
                <a:solidFill>
                  <a:srgbClr val="1B2B38"/>
                </a:solidFill>
                <a:latin typeface="Consolas" pitchFamily="34" charset="0"/>
                <a:ea typeface="Consolas" pitchFamily="34" charset="-122"/>
                <a:cs typeface="Consolas" pitchFamily="34" charset="-120"/>
              </a:rPr>
              <a:t>DS-14 Error handling</a:t>
            </a:r>
            <a:endParaRPr lang="en-US" sz="1300" dirty="0"/>
          </a:p>
        </p:txBody>
      </p:sp>
      <p:sp>
        <p:nvSpPr>
          <p:cNvPr id="25" name="Shape 23"/>
          <p:cNvSpPr/>
          <p:nvPr/>
        </p:nvSpPr>
        <p:spPr>
          <a:xfrm>
            <a:off x="4709160" y="2880360"/>
            <a:ext cx="3977640" cy="1325880"/>
          </a:xfrm>
          <a:prstGeom prst="rect">
            <a:avLst/>
          </a:prstGeom>
          <a:solidFill>
            <a:srgbClr val="FFFFFF"/>
          </a:solidFill>
          <a:ln w="12700">
            <a:solidFill>
              <a:srgbClr val="D5DCE2"/>
            </a:solidFill>
            <a:prstDash val="solid"/>
          </a:ln>
        </p:spPr>
      </p:sp>
      <p:sp>
        <p:nvSpPr>
          <p:cNvPr id="26" name="Text 24"/>
          <p:cNvSpPr/>
          <p:nvPr/>
        </p:nvSpPr>
        <p:spPr>
          <a:xfrm>
            <a:off x="4892040" y="2971800"/>
            <a:ext cx="3657600" cy="1143000"/>
          </a:xfrm>
          <a:prstGeom prst="rect">
            <a:avLst/>
          </a:prstGeom>
          <a:noFill/>
          <a:ln/>
        </p:spPr>
        <p:txBody>
          <a:bodyPr wrap="square" lIns="0" tIns="0" rIns="0" bIns="0" rtlCol="0" anchor="t"/>
          <a:lstStyle/>
          <a:p>
            <a:pPr indent="0" marL="0">
              <a:spcAft>
                <a:spcPts val="600"/>
              </a:spcAft>
              <a:buNone/>
            </a:pPr>
            <a:r>
              <a:rPr lang="en-US" sz="1300" dirty="0">
                <a:solidFill>
                  <a:srgbClr val="1F7A8C"/>
                </a:solidFill>
                <a:latin typeface="Segoe UI Semibold" pitchFamily="34" charset="0"/>
                <a:ea typeface="Segoe UI Semibold" pitchFamily="34" charset="-122"/>
                <a:cs typeface="Segoe UI Semibold" pitchFamily="34" charset="-120"/>
              </a:rPr>
              <a:t>Read live through tools</a:t>
            </a:r>
            <a:endParaRPr lang="en-US" sz="1300" dirty="0"/>
          </a:p>
          <a:p>
            <a:pPr indent="0" marL="0">
              <a:spcAft>
                <a:spcPts val="600"/>
              </a:spcAft>
              <a:buNone/>
            </a:pPr>
            <a:r>
              <a:rPr lang="en-US" sz="1200" dirty="0">
                <a:solidFill>
                  <a:srgbClr val="1B2B38"/>
                </a:solidFill>
                <a:latin typeface="Segoe UI" pitchFamily="34" charset="0"/>
                <a:ea typeface="Segoe UI" pitchFamily="34" charset="-122"/>
                <a:cs typeface="Segoe UI" pitchFamily="34" charset="-120"/>
              </a:rPr>
              <a:t>Code, wiki and work items change daily. An indexed copy would go stale.</a:t>
            </a:r>
            <a:endParaRPr lang="en-US" sz="1300" dirty="0"/>
          </a:p>
        </p:txBody>
      </p:sp>
      <p:sp>
        <p:nvSpPr>
          <p:cNvPr id="27" name="Shape 25"/>
          <p:cNvSpPr/>
          <p:nvPr/>
        </p:nvSpPr>
        <p:spPr>
          <a:xfrm>
            <a:off x="0" y="4526280"/>
            <a:ext cx="9144000" cy="617220"/>
          </a:xfrm>
          <a:prstGeom prst="rect">
            <a:avLst/>
          </a:prstGeom>
          <a:solidFill>
            <a:srgbClr val="0F2A3D"/>
          </a:solidFill>
          <a:ln/>
        </p:spPr>
      </p:sp>
      <p:sp>
        <p:nvSpPr>
          <p:cNvPr id="28" name="Shape 26"/>
          <p:cNvSpPr/>
          <p:nvPr/>
        </p:nvSpPr>
        <p:spPr>
          <a:xfrm>
            <a:off x="457200" y="4663440"/>
            <a:ext cx="1051560" cy="329184"/>
          </a:xfrm>
          <a:prstGeom prst="roundRect">
            <a:avLst>
              <a:gd name="adj" fmla="val 16667"/>
            </a:avLst>
          </a:prstGeom>
          <a:solidFill>
            <a:srgbClr val="F2A93B"/>
          </a:solidFill>
          <a:ln/>
        </p:spPr>
      </p:sp>
      <p:sp>
        <p:nvSpPr>
          <p:cNvPr id="29" name="Text 27"/>
          <p:cNvSpPr/>
          <p:nvPr/>
        </p:nvSpPr>
        <p:spPr>
          <a:xfrm>
            <a:off x="457200" y="4663440"/>
            <a:ext cx="1051560" cy="329184"/>
          </a:xfrm>
          <a:prstGeom prst="rect">
            <a:avLst/>
          </a:prstGeom>
          <a:noFill/>
          <a:ln/>
        </p:spPr>
        <p:txBody>
          <a:bodyPr wrap="square" lIns="0" tIns="0" rIns="0" bIns="0" rtlCol="0" anchor="ctr"/>
          <a:lstStyle/>
          <a:p>
            <a:pPr algn="ctr" indent="0" marL="0">
              <a:buNone/>
            </a:pPr>
            <a:r>
              <a:rPr lang="en-US" sz="1000" b="1" dirty="0">
                <a:solidFill>
                  <a:srgbClr val="0F2A3D"/>
                </a:solidFill>
                <a:latin typeface="Consolas" pitchFamily="34" charset="0"/>
                <a:ea typeface="Consolas" pitchFamily="34" charset="-122"/>
                <a:cs typeface="Consolas" pitchFamily="34" charset="-120"/>
              </a:rPr>
              <a:t>LIVE DEMO</a:t>
            </a:r>
            <a:endParaRPr lang="en-US" sz="1000" dirty="0"/>
          </a:p>
        </p:txBody>
      </p:sp>
      <p:sp>
        <p:nvSpPr>
          <p:cNvPr id="30" name="Text 28"/>
          <p:cNvSpPr/>
          <p:nvPr/>
        </p:nvSpPr>
        <p:spPr>
          <a:xfrm>
            <a:off x="1691640" y="4645152"/>
            <a:ext cx="7040880" cy="36576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demo-foundry-iq.ps1  →  DS-14 Error handling · DS-30 Drift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000" spc="300" kern="0" dirty="0">
                <a:solidFill>
                  <a:srgbClr val="1F7A8C"/>
                </a:solidFill>
                <a:latin typeface="Consolas" pitchFamily="34" charset="0"/>
                <a:ea typeface="Consolas" pitchFamily="34" charset="-122"/>
                <a:cs typeface="Consolas" pitchFamily="34" charset="-120"/>
              </a:rPr>
              <a:t>2 · TOOLBOX</a:t>
            </a:r>
            <a:endParaRPr lang="en-US" sz="1000" dirty="0"/>
          </a:p>
        </p:txBody>
      </p:sp>
      <p:sp>
        <p:nvSpPr>
          <p:cNvPr id="3" name="Text 1"/>
          <p:cNvSpPr/>
          <p:nvPr/>
        </p:nvSpPr>
        <p:spPr>
          <a:xfrm>
            <a:off x="457200" y="566928"/>
            <a:ext cx="8229600" cy="640080"/>
          </a:xfrm>
          <a:prstGeom prst="rect">
            <a:avLst/>
          </a:prstGeom>
          <a:noFill/>
          <a:ln/>
        </p:spPr>
        <p:txBody>
          <a:bodyPr wrap="square" lIns="0" tIns="0" rIns="0" bIns="0" rtlCol="0" anchor="ctr"/>
          <a:lstStyle/>
          <a:p>
            <a:pPr indent="0" marL="0">
              <a:buNone/>
            </a:pPr>
            <a:r>
              <a:rPr lang="en-US" sz="3000" dirty="0">
                <a:solidFill>
                  <a:srgbClr val="1B2B38"/>
                </a:solidFill>
                <a:latin typeface="Segoe UI Semibold" pitchFamily="34" charset="0"/>
                <a:ea typeface="Segoe UI Semibold" pitchFamily="34" charset="-122"/>
                <a:cs typeface="Segoe UI Semibold" pitchFamily="34" charset="-120"/>
              </a:rPr>
              <a:t>One versioned bundle of allowed tools</a:t>
            </a:r>
            <a:endParaRPr lang="en-US" sz="3000" dirty="0"/>
          </a:p>
        </p:txBody>
      </p:sp>
      <p:sp>
        <p:nvSpPr>
          <p:cNvPr id="4" name="Shape 2"/>
          <p:cNvSpPr/>
          <p:nvPr/>
        </p:nvSpPr>
        <p:spPr>
          <a:xfrm>
            <a:off x="457200" y="1371600"/>
            <a:ext cx="4937760" cy="2926080"/>
          </a:xfrm>
          <a:prstGeom prst="rect">
            <a:avLst/>
          </a:prstGeom>
          <a:solidFill>
            <a:srgbClr val="FFFFFF"/>
          </a:solidFill>
          <a:ln w="15875">
            <a:solidFill>
              <a:srgbClr val="1F7A8C"/>
            </a:solidFill>
            <a:prstDash val="solid"/>
          </a:ln>
        </p:spPr>
      </p:sp>
      <p:sp>
        <p:nvSpPr>
          <p:cNvPr id="5" name="Text 3"/>
          <p:cNvSpPr/>
          <p:nvPr/>
        </p:nvSpPr>
        <p:spPr>
          <a:xfrm>
            <a:off x="640080" y="1463040"/>
            <a:ext cx="822960" cy="914400"/>
          </a:xfrm>
          <a:prstGeom prst="rect">
            <a:avLst/>
          </a:prstGeom>
          <a:noFill/>
          <a:ln/>
        </p:spPr>
        <p:txBody>
          <a:bodyPr wrap="square" lIns="0" tIns="0" rIns="0" bIns="0" rtlCol="0" anchor="ctr"/>
          <a:lstStyle/>
          <a:p>
            <a:pPr indent="0" marL="0">
              <a:buNone/>
            </a:pPr>
            <a:r>
              <a:rPr lang="en-US" sz="5400" dirty="0">
                <a:solidFill>
                  <a:srgbClr val="1F7A8C"/>
                </a:solidFill>
                <a:latin typeface="Segoe UI Semibold" pitchFamily="34" charset="0"/>
                <a:ea typeface="Segoe UI Semibold" pitchFamily="34" charset="-122"/>
                <a:cs typeface="Segoe UI Semibold" pitchFamily="34" charset="-120"/>
              </a:rPr>
              <a:t>4</a:t>
            </a:r>
            <a:endParaRPr lang="en-US" sz="5400" dirty="0"/>
          </a:p>
        </p:txBody>
      </p:sp>
      <p:sp>
        <p:nvSpPr>
          <p:cNvPr id="6" name="Text 4"/>
          <p:cNvSpPr/>
          <p:nvPr/>
        </p:nvSpPr>
        <p:spPr>
          <a:xfrm>
            <a:off x="1463040" y="1554480"/>
            <a:ext cx="3840480" cy="731520"/>
          </a:xfrm>
          <a:prstGeom prst="rect">
            <a:avLst/>
          </a:prstGeom>
          <a:noFill/>
          <a:ln/>
        </p:spPr>
        <p:txBody>
          <a:bodyPr wrap="square" lIns="0" tIns="0" rIns="0" bIns="0" rtlCol="0" anchor="ctr"/>
          <a:lstStyle/>
          <a:p>
            <a:pPr indent="0" marL="0">
              <a:buNone/>
            </a:pPr>
            <a:r>
              <a:rPr lang="en-US" sz="1200" b="1" dirty="0">
                <a:solidFill>
                  <a:srgbClr val="1B2B38"/>
                </a:solidFill>
                <a:latin typeface="Consolas" pitchFamily="34" charset="0"/>
                <a:ea typeface="Consolas" pitchFamily="34" charset="-122"/>
                <a:cs typeface="Consolas" pitchFamily="34" charset="-120"/>
              </a:rPr>
              <a:t>documentation-agent-readonly</a:t>
            </a:r>
            <a:endParaRPr lang="en-US" sz="1200" dirty="0"/>
          </a:p>
          <a:p>
            <a:pPr indent="0" marL="0">
              <a:buNone/>
            </a:pPr>
            <a:r>
              <a:rPr lang="en-US" sz="1200" dirty="0">
                <a:solidFill>
                  <a:srgbClr val="5B6B7A"/>
                </a:solidFill>
                <a:latin typeface="Segoe UI" pitchFamily="34" charset="0"/>
                <a:ea typeface="Segoe UI" pitchFamily="34" charset="-122"/>
                <a:cs typeface="Segoe UI" pitchFamily="34" charset="-120"/>
              </a:rPr>
              <a:t>Every assessment. Read only.</a:t>
            </a:r>
            <a:endParaRPr lang="en-US" sz="1200" dirty="0"/>
          </a:p>
        </p:txBody>
      </p:sp>
      <p:sp>
        <p:nvSpPr>
          <p:cNvPr id="7" name="Shape 5"/>
          <p:cNvSpPr/>
          <p:nvPr/>
        </p:nvSpPr>
        <p:spPr>
          <a:xfrm>
            <a:off x="640080" y="2560320"/>
            <a:ext cx="4572000" cy="438912"/>
          </a:xfrm>
          <a:prstGeom prst="rect">
            <a:avLst/>
          </a:prstGeom>
          <a:solidFill>
            <a:srgbClr val="DCEEF1"/>
          </a:solidFill>
          <a:ln/>
        </p:spPr>
      </p:sp>
      <p:sp>
        <p:nvSpPr>
          <p:cNvPr id="8" name="Text 6"/>
          <p:cNvSpPr/>
          <p:nvPr/>
        </p:nvSpPr>
        <p:spPr>
          <a:xfrm>
            <a:off x="777240" y="2560320"/>
            <a:ext cx="1463040" cy="438912"/>
          </a:xfrm>
          <a:prstGeom prst="rect">
            <a:avLst/>
          </a:prstGeom>
          <a:noFill/>
          <a:ln/>
        </p:spPr>
        <p:txBody>
          <a:bodyPr wrap="square" lIns="0" tIns="0" rIns="0" bIns="0" rtlCol="0" anchor="ctr"/>
          <a:lstStyle/>
          <a:p>
            <a:pPr indent="0" marL="0">
              <a:buNone/>
            </a:pPr>
            <a:r>
              <a:rPr lang="en-US" sz="1200" dirty="0">
                <a:solidFill>
                  <a:srgbClr val="1B2B38"/>
                </a:solidFill>
                <a:latin typeface="Segoe UI Semibold" pitchFamily="34" charset="0"/>
                <a:ea typeface="Segoe UI Semibold" pitchFamily="34" charset="-122"/>
                <a:cs typeface="Segoe UI Semibold" pitchFamily="34" charset="-120"/>
              </a:rPr>
              <a:t>Foundry IQ</a:t>
            </a:r>
            <a:endParaRPr lang="en-US" sz="1200" dirty="0"/>
          </a:p>
        </p:txBody>
      </p:sp>
      <p:sp>
        <p:nvSpPr>
          <p:cNvPr id="9" name="Text 7"/>
          <p:cNvSpPr/>
          <p:nvPr/>
        </p:nvSpPr>
        <p:spPr>
          <a:xfrm>
            <a:off x="2286000" y="2560320"/>
            <a:ext cx="2834640" cy="438912"/>
          </a:xfrm>
          <a:prstGeom prst="rect">
            <a:avLst/>
          </a:prstGeom>
          <a:noFill/>
          <a:ln/>
        </p:spPr>
        <p:txBody>
          <a:bodyPr wrap="square" lIns="0" tIns="0" rIns="0" bIns="0" rtlCol="0" anchor="ctr"/>
          <a:lstStyle/>
          <a:p>
            <a:pPr indent="0" marL="0">
              <a:buNone/>
            </a:pPr>
            <a:r>
              <a:rPr lang="en-US" sz="1100" dirty="0">
                <a:solidFill>
                  <a:srgbClr val="1B2B38"/>
                </a:solidFill>
                <a:latin typeface="Consolas" pitchFamily="34" charset="0"/>
                <a:ea typeface="Consolas" pitchFamily="34" charset="-122"/>
                <a:cs typeface="Consolas" pitchFamily="34" charset="-120"/>
              </a:rPr>
              <a:t>knowledge_base_retrieve</a:t>
            </a:r>
            <a:endParaRPr lang="en-US" sz="1100" dirty="0"/>
          </a:p>
        </p:txBody>
      </p:sp>
      <p:sp>
        <p:nvSpPr>
          <p:cNvPr id="10" name="Shape 8"/>
          <p:cNvSpPr/>
          <p:nvPr/>
        </p:nvSpPr>
        <p:spPr>
          <a:xfrm>
            <a:off x="640080" y="3108960"/>
            <a:ext cx="4572000" cy="438912"/>
          </a:xfrm>
          <a:prstGeom prst="rect">
            <a:avLst/>
          </a:prstGeom>
          <a:solidFill>
            <a:srgbClr val="DCEEF1"/>
          </a:solidFill>
          <a:ln/>
        </p:spPr>
      </p:sp>
      <p:sp>
        <p:nvSpPr>
          <p:cNvPr id="11" name="Text 9"/>
          <p:cNvSpPr/>
          <p:nvPr/>
        </p:nvSpPr>
        <p:spPr>
          <a:xfrm>
            <a:off x="777240" y="3108960"/>
            <a:ext cx="1463040" cy="438912"/>
          </a:xfrm>
          <a:prstGeom prst="rect">
            <a:avLst/>
          </a:prstGeom>
          <a:noFill/>
          <a:ln/>
        </p:spPr>
        <p:txBody>
          <a:bodyPr wrap="square" lIns="0" tIns="0" rIns="0" bIns="0" rtlCol="0" anchor="ctr"/>
          <a:lstStyle/>
          <a:p>
            <a:pPr indent="0" marL="0">
              <a:buNone/>
            </a:pPr>
            <a:r>
              <a:rPr lang="en-US" sz="1200" dirty="0">
                <a:solidFill>
                  <a:srgbClr val="1B2B38"/>
                </a:solidFill>
                <a:latin typeface="Segoe UI Semibold" pitchFamily="34" charset="0"/>
                <a:ea typeface="Segoe UI Semibold" pitchFamily="34" charset="-122"/>
                <a:cs typeface="Segoe UI Semibold" pitchFamily="34" charset="-120"/>
              </a:rPr>
              <a:t>GitHub</a:t>
            </a:r>
            <a:endParaRPr lang="en-US" sz="1200" dirty="0"/>
          </a:p>
        </p:txBody>
      </p:sp>
      <p:sp>
        <p:nvSpPr>
          <p:cNvPr id="12" name="Text 10"/>
          <p:cNvSpPr/>
          <p:nvPr/>
        </p:nvSpPr>
        <p:spPr>
          <a:xfrm>
            <a:off x="2286000" y="3108960"/>
            <a:ext cx="2834640" cy="438912"/>
          </a:xfrm>
          <a:prstGeom prst="rect">
            <a:avLst/>
          </a:prstGeom>
          <a:noFill/>
          <a:ln/>
        </p:spPr>
        <p:txBody>
          <a:bodyPr wrap="square" lIns="0" tIns="0" rIns="0" bIns="0" rtlCol="0" anchor="ctr"/>
          <a:lstStyle/>
          <a:p>
            <a:pPr indent="0" marL="0">
              <a:buNone/>
            </a:pPr>
            <a:r>
              <a:rPr lang="en-US" sz="1100" dirty="0">
                <a:solidFill>
                  <a:srgbClr val="1B2B38"/>
                </a:solidFill>
                <a:latin typeface="Consolas" pitchFamily="34" charset="0"/>
                <a:ea typeface="Consolas" pitchFamily="34" charset="-122"/>
                <a:cs typeface="Consolas" pitchFamily="34" charset="-120"/>
              </a:rPr>
              <a:t>get_file_contents</a:t>
            </a:r>
            <a:endParaRPr lang="en-US" sz="1100" dirty="0"/>
          </a:p>
        </p:txBody>
      </p:sp>
      <p:sp>
        <p:nvSpPr>
          <p:cNvPr id="13" name="Shape 11"/>
          <p:cNvSpPr/>
          <p:nvPr/>
        </p:nvSpPr>
        <p:spPr>
          <a:xfrm>
            <a:off x="640080" y="3657600"/>
            <a:ext cx="4572000" cy="438912"/>
          </a:xfrm>
          <a:prstGeom prst="rect">
            <a:avLst/>
          </a:prstGeom>
          <a:solidFill>
            <a:srgbClr val="DCEEF1"/>
          </a:solidFill>
          <a:ln/>
        </p:spPr>
      </p:sp>
      <p:sp>
        <p:nvSpPr>
          <p:cNvPr id="14" name="Text 12"/>
          <p:cNvSpPr/>
          <p:nvPr/>
        </p:nvSpPr>
        <p:spPr>
          <a:xfrm>
            <a:off x="777240" y="3657600"/>
            <a:ext cx="1463040" cy="438912"/>
          </a:xfrm>
          <a:prstGeom prst="rect">
            <a:avLst/>
          </a:prstGeom>
          <a:noFill/>
          <a:ln/>
        </p:spPr>
        <p:txBody>
          <a:bodyPr wrap="square" lIns="0" tIns="0" rIns="0" bIns="0" rtlCol="0" anchor="ctr"/>
          <a:lstStyle/>
          <a:p>
            <a:pPr indent="0" marL="0">
              <a:buNone/>
            </a:pPr>
            <a:r>
              <a:rPr lang="en-US" sz="1200" dirty="0">
                <a:solidFill>
                  <a:srgbClr val="1B2B38"/>
                </a:solidFill>
                <a:latin typeface="Segoe UI Semibold" pitchFamily="34" charset="0"/>
                <a:ea typeface="Segoe UI Semibold" pitchFamily="34" charset="-122"/>
                <a:cs typeface="Segoe UI Semibold" pitchFamily="34" charset="-120"/>
              </a:rPr>
              <a:t>Azure DevOps</a:t>
            </a:r>
            <a:endParaRPr lang="en-US" sz="1200" dirty="0"/>
          </a:p>
        </p:txBody>
      </p:sp>
      <p:sp>
        <p:nvSpPr>
          <p:cNvPr id="15" name="Text 13"/>
          <p:cNvSpPr/>
          <p:nvPr/>
        </p:nvSpPr>
        <p:spPr>
          <a:xfrm>
            <a:off x="2286000" y="3657600"/>
            <a:ext cx="2834640" cy="438912"/>
          </a:xfrm>
          <a:prstGeom prst="rect">
            <a:avLst/>
          </a:prstGeom>
          <a:noFill/>
          <a:ln/>
        </p:spPr>
        <p:txBody>
          <a:bodyPr wrap="square" lIns="0" tIns="0" rIns="0" bIns="0" rtlCol="0" anchor="ctr"/>
          <a:lstStyle/>
          <a:p>
            <a:pPr indent="0" marL="0">
              <a:buNone/>
            </a:pPr>
            <a:r>
              <a:rPr lang="en-US" sz="1100" dirty="0">
                <a:solidFill>
                  <a:srgbClr val="1B2B38"/>
                </a:solidFill>
                <a:latin typeface="Consolas" pitchFamily="34" charset="0"/>
                <a:ea typeface="Consolas" pitchFamily="34" charset="-122"/>
                <a:cs typeface="Consolas" pitchFamily="34" charset="-120"/>
              </a:rPr>
              <a:t>wiki · wit_work_item</a:t>
            </a:r>
            <a:endParaRPr lang="en-US" sz="1100" dirty="0"/>
          </a:p>
        </p:txBody>
      </p:sp>
      <p:sp>
        <p:nvSpPr>
          <p:cNvPr id="16" name="Shape 14"/>
          <p:cNvSpPr/>
          <p:nvPr/>
        </p:nvSpPr>
        <p:spPr>
          <a:xfrm>
            <a:off x="5669280" y="1371600"/>
            <a:ext cx="3017520" cy="2926080"/>
          </a:xfrm>
          <a:prstGeom prst="rect">
            <a:avLst/>
          </a:prstGeom>
          <a:solidFill>
            <a:srgbClr val="FDF1DC"/>
          </a:solidFill>
          <a:ln w="15875">
            <a:solidFill>
              <a:srgbClr val="F2A93B"/>
            </a:solidFill>
            <a:prstDash val="solid"/>
          </a:ln>
        </p:spPr>
      </p:sp>
      <p:sp>
        <p:nvSpPr>
          <p:cNvPr id="17" name="Text 15"/>
          <p:cNvSpPr/>
          <p:nvPr/>
        </p:nvSpPr>
        <p:spPr>
          <a:xfrm>
            <a:off x="5852160" y="1463040"/>
            <a:ext cx="822960" cy="914400"/>
          </a:xfrm>
          <a:prstGeom prst="rect">
            <a:avLst/>
          </a:prstGeom>
          <a:noFill/>
          <a:ln/>
        </p:spPr>
        <p:txBody>
          <a:bodyPr wrap="square" lIns="0" tIns="0" rIns="0" bIns="0" rtlCol="0" anchor="ctr"/>
          <a:lstStyle/>
          <a:p>
            <a:pPr indent="0" marL="0">
              <a:buNone/>
            </a:pPr>
            <a:r>
              <a:rPr lang="en-US" sz="5400" dirty="0">
                <a:solidFill>
                  <a:srgbClr val="B9771A"/>
                </a:solidFill>
                <a:latin typeface="Segoe UI Semibold" pitchFamily="34" charset="0"/>
                <a:ea typeface="Segoe UI Semibold" pitchFamily="34" charset="-122"/>
                <a:cs typeface="Segoe UI Semibold" pitchFamily="34" charset="-120"/>
              </a:rPr>
              <a:t>1</a:t>
            </a:r>
            <a:endParaRPr lang="en-US" sz="5400" dirty="0"/>
          </a:p>
        </p:txBody>
      </p:sp>
      <p:sp>
        <p:nvSpPr>
          <p:cNvPr id="18" name="Text 16"/>
          <p:cNvSpPr/>
          <p:nvPr/>
        </p:nvSpPr>
        <p:spPr>
          <a:xfrm>
            <a:off x="6537960" y="1554480"/>
            <a:ext cx="2103120" cy="731520"/>
          </a:xfrm>
          <a:prstGeom prst="rect">
            <a:avLst/>
          </a:prstGeom>
          <a:noFill/>
          <a:ln/>
        </p:spPr>
        <p:txBody>
          <a:bodyPr wrap="square" lIns="0" tIns="0" rIns="0" bIns="0" rtlCol="0" anchor="ctr"/>
          <a:lstStyle/>
          <a:p>
            <a:pPr indent="0" marL="0">
              <a:buNone/>
            </a:pPr>
            <a:r>
              <a:rPr lang="en-US" sz="1100" b="1" dirty="0">
                <a:solidFill>
                  <a:srgbClr val="1B2B38"/>
                </a:solidFill>
                <a:latin typeface="Consolas" pitchFamily="34" charset="0"/>
                <a:ea typeface="Consolas" pitchFamily="34" charset="-122"/>
                <a:cs typeface="Consolas" pitchFamily="34" charset="-120"/>
              </a:rPr>
              <a:t>documentation-agent-write</a:t>
            </a:r>
            <a:endParaRPr lang="en-US" sz="1100" dirty="0"/>
          </a:p>
          <a:p>
            <a:pPr indent="0" marL="0">
              <a:buNone/>
            </a:pPr>
            <a:r>
              <a:rPr lang="en-US" sz="1100" dirty="0">
                <a:solidFill>
                  <a:srgbClr val="1B2B38"/>
                </a:solidFill>
                <a:latin typeface="Consolas" pitchFamily="34" charset="0"/>
                <a:ea typeface="Consolas" pitchFamily="34" charset="-122"/>
                <a:cs typeface="Consolas" pitchFamily="34" charset="-120"/>
              </a:rPr>
              <a:t>wiki_upsert_page</a:t>
            </a:r>
            <a:endParaRPr lang="en-US" sz="1100" dirty="0"/>
          </a:p>
        </p:txBody>
      </p:sp>
      <p:sp>
        <p:nvSpPr>
          <p:cNvPr id="19" name="Shape 17"/>
          <p:cNvSpPr/>
          <p:nvPr/>
        </p:nvSpPr>
        <p:spPr>
          <a:xfrm>
            <a:off x="5852160" y="2560320"/>
            <a:ext cx="2651760" cy="438912"/>
          </a:xfrm>
          <a:prstGeom prst="rect">
            <a:avLst/>
          </a:prstGeom>
          <a:solidFill>
            <a:srgbClr val="FFFFFF"/>
          </a:solidFill>
          <a:ln w="9525">
            <a:solidFill>
              <a:srgbClr val="F2A93B"/>
            </a:solidFill>
            <a:prstDash val="solid"/>
          </a:ln>
        </p:spPr>
      </p:sp>
      <p:sp>
        <p:nvSpPr>
          <p:cNvPr id="20" name="Text 18"/>
          <p:cNvSpPr/>
          <p:nvPr/>
        </p:nvSpPr>
        <p:spPr>
          <a:xfrm>
            <a:off x="5989320" y="2560320"/>
            <a:ext cx="2468880" cy="438912"/>
          </a:xfrm>
          <a:prstGeom prst="rect">
            <a:avLst/>
          </a:prstGeom>
          <a:noFill/>
          <a:ln/>
        </p:spPr>
        <p:txBody>
          <a:bodyPr wrap="square" lIns="0" tIns="0" rIns="0" bIns="0" rtlCol="0" anchor="ctr"/>
          <a:lstStyle/>
          <a:p>
            <a:pPr indent="0" marL="0">
              <a:buNone/>
            </a:pPr>
            <a:r>
              <a:rPr lang="en-US" sz="1200" dirty="0">
                <a:solidFill>
                  <a:srgbClr val="1B2B38"/>
                </a:solidFill>
                <a:latin typeface="Segoe UI" pitchFamily="34" charset="0"/>
                <a:ea typeface="Segoe UI" pitchFamily="34" charset="-122"/>
                <a:cs typeface="Segoe UI" pitchFamily="34" charset="-120"/>
              </a:rPr>
              <a:t>1  Teams card</a:t>
            </a:r>
            <a:endParaRPr lang="en-US" sz="1200" dirty="0"/>
          </a:p>
        </p:txBody>
      </p:sp>
      <p:sp>
        <p:nvSpPr>
          <p:cNvPr id="21" name="Shape 19"/>
          <p:cNvSpPr/>
          <p:nvPr/>
        </p:nvSpPr>
        <p:spPr>
          <a:xfrm>
            <a:off x="5852160" y="3108960"/>
            <a:ext cx="2651760" cy="438912"/>
          </a:xfrm>
          <a:prstGeom prst="rect">
            <a:avLst/>
          </a:prstGeom>
          <a:solidFill>
            <a:srgbClr val="FFFFFF"/>
          </a:solidFill>
          <a:ln w="9525">
            <a:solidFill>
              <a:srgbClr val="F2A93B"/>
            </a:solidFill>
            <a:prstDash val="solid"/>
          </a:ln>
        </p:spPr>
      </p:sp>
      <p:sp>
        <p:nvSpPr>
          <p:cNvPr id="22" name="Text 20"/>
          <p:cNvSpPr/>
          <p:nvPr/>
        </p:nvSpPr>
        <p:spPr>
          <a:xfrm>
            <a:off x="5989320" y="3108960"/>
            <a:ext cx="2468880" cy="438912"/>
          </a:xfrm>
          <a:prstGeom prst="rect">
            <a:avLst/>
          </a:prstGeom>
          <a:noFill/>
          <a:ln/>
        </p:spPr>
        <p:txBody>
          <a:bodyPr wrap="square" lIns="0" tIns="0" rIns="0" bIns="0" rtlCol="0" anchor="ctr"/>
          <a:lstStyle/>
          <a:p>
            <a:pPr indent="0" marL="0">
              <a:buNone/>
            </a:pPr>
            <a:r>
              <a:rPr lang="en-US" sz="1200" dirty="0">
                <a:solidFill>
                  <a:srgbClr val="1B2B38"/>
                </a:solidFill>
                <a:latin typeface="Segoe UI" pitchFamily="34" charset="0"/>
                <a:ea typeface="Segoe UI" pitchFamily="34" charset="-122"/>
                <a:cs typeface="Segoe UI" pitchFamily="34" charset="-120"/>
              </a:rPr>
              <a:t>2  Person clicks Approve</a:t>
            </a:r>
            <a:endParaRPr lang="en-US" sz="1200" dirty="0"/>
          </a:p>
        </p:txBody>
      </p:sp>
      <p:sp>
        <p:nvSpPr>
          <p:cNvPr id="23" name="Shape 21"/>
          <p:cNvSpPr/>
          <p:nvPr/>
        </p:nvSpPr>
        <p:spPr>
          <a:xfrm>
            <a:off x="5852160" y="3657600"/>
            <a:ext cx="2651760" cy="438912"/>
          </a:xfrm>
          <a:prstGeom prst="rect">
            <a:avLst/>
          </a:prstGeom>
          <a:solidFill>
            <a:srgbClr val="FFFFFF"/>
          </a:solidFill>
          <a:ln w="9525">
            <a:solidFill>
              <a:srgbClr val="F2A93B"/>
            </a:solidFill>
            <a:prstDash val="solid"/>
          </a:ln>
        </p:spPr>
      </p:sp>
      <p:sp>
        <p:nvSpPr>
          <p:cNvPr id="24" name="Text 22"/>
          <p:cNvSpPr/>
          <p:nvPr/>
        </p:nvSpPr>
        <p:spPr>
          <a:xfrm>
            <a:off x="5989320" y="3657600"/>
            <a:ext cx="2468880" cy="438912"/>
          </a:xfrm>
          <a:prstGeom prst="rect">
            <a:avLst/>
          </a:prstGeom>
          <a:noFill/>
          <a:ln/>
        </p:spPr>
        <p:txBody>
          <a:bodyPr wrap="square" lIns="0" tIns="0" rIns="0" bIns="0" rtlCol="0" anchor="ctr"/>
          <a:lstStyle/>
          <a:p>
            <a:pPr indent="0" marL="0">
              <a:buNone/>
            </a:pPr>
            <a:r>
              <a:rPr lang="en-US" sz="1200" dirty="0">
                <a:solidFill>
                  <a:srgbClr val="1B2B38"/>
                </a:solidFill>
                <a:latin typeface="Segoe UI" pitchFamily="34" charset="0"/>
                <a:ea typeface="Segoe UI" pitchFamily="34" charset="-122"/>
                <a:cs typeface="Segoe UI" pitchFamily="34" charset="-120"/>
              </a:rPr>
              <a:t>3  Wiki write as agent user</a:t>
            </a:r>
            <a:endParaRPr lang="en-US" sz="1200" dirty="0"/>
          </a:p>
        </p:txBody>
      </p:sp>
      <p:sp>
        <p:nvSpPr>
          <p:cNvPr id="25" name="Shape 23"/>
          <p:cNvSpPr/>
          <p:nvPr/>
        </p:nvSpPr>
        <p:spPr>
          <a:xfrm>
            <a:off x="0" y="4526280"/>
            <a:ext cx="9144000" cy="617220"/>
          </a:xfrm>
          <a:prstGeom prst="rect">
            <a:avLst/>
          </a:prstGeom>
          <a:solidFill>
            <a:srgbClr val="0F2A3D"/>
          </a:solidFill>
          <a:ln/>
        </p:spPr>
      </p:sp>
      <p:sp>
        <p:nvSpPr>
          <p:cNvPr id="26" name="Shape 24"/>
          <p:cNvSpPr/>
          <p:nvPr/>
        </p:nvSpPr>
        <p:spPr>
          <a:xfrm>
            <a:off x="457200" y="4663440"/>
            <a:ext cx="1051560" cy="329184"/>
          </a:xfrm>
          <a:prstGeom prst="roundRect">
            <a:avLst>
              <a:gd name="adj" fmla="val 16667"/>
            </a:avLst>
          </a:prstGeom>
          <a:solidFill>
            <a:srgbClr val="F2A93B"/>
          </a:solidFill>
          <a:ln/>
        </p:spPr>
      </p:sp>
      <p:sp>
        <p:nvSpPr>
          <p:cNvPr id="27" name="Text 25"/>
          <p:cNvSpPr/>
          <p:nvPr/>
        </p:nvSpPr>
        <p:spPr>
          <a:xfrm>
            <a:off x="457200" y="4663440"/>
            <a:ext cx="1051560" cy="329184"/>
          </a:xfrm>
          <a:prstGeom prst="rect">
            <a:avLst/>
          </a:prstGeom>
          <a:noFill/>
          <a:ln/>
        </p:spPr>
        <p:txBody>
          <a:bodyPr wrap="square" lIns="0" tIns="0" rIns="0" bIns="0" rtlCol="0" anchor="ctr"/>
          <a:lstStyle/>
          <a:p>
            <a:pPr algn="ctr" indent="0" marL="0">
              <a:buNone/>
            </a:pPr>
            <a:r>
              <a:rPr lang="en-US" sz="1000" b="1" dirty="0">
                <a:solidFill>
                  <a:srgbClr val="0F2A3D"/>
                </a:solidFill>
                <a:latin typeface="Consolas" pitchFamily="34" charset="0"/>
                <a:ea typeface="Consolas" pitchFamily="34" charset="-122"/>
                <a:cs typeface="Consolas" pitchFamily="34" charset="-120"/>
              </a:rPr>
              <a:t>LIVE DEMO</a:t>
            </a:r>
            <a:endParaRPr lang="en-US" sz="1000" dirty="0"/>
          </a:p>
        </p:txBody>
      </p:sp>
      <p:sp>
        <p:nvSpPr>
          <p:cNvPr id="28" name="Text 26"/>
          <p:cNvSpPr/>
          <p:nvPr/>
        </p:nvSpPr>
        <p:spPr>
          <a:xfrm>
            <a:off x="1691640" y="4645152"/>
            <a:ext cx="7040880" cy="36576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demo-toolbox.ps1  ·  assess PR #62  →  gaps_found, pinned evidence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8"/>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000" spc="300" kern="0" dirty="0">
                <a:solidFill>
                  <a:srgbClr val="1F7A8C"/>
                </a:solidFill>
                <a:latin typeface="Consolas" pitchFamily="34" charset="0"/>
                <a:ea typeface="Consolas" pitchFamily="34" charset="-122"/>
                <a:cs typeface="Consolas" pitchFamily="34" charset="-120"/>
              </a:rPr>
              <a:t>3 · AGENT IDENTITY</a:t>
            </a:r>
            <a:endParaRPr lang="en-US" sz="1000" dirty="0"/>
          </a:p>
        </p:txBody>
      </p:sp>
      <p:sp>
        <p:nvSpPr>
          <p:cNvPr id="3" name="Text 1"/>
          <p:cNvSpPr/>
          <p:nvPr/>
        </p:nvSpPr>
        <p:spPr>
          <a:xfrm>
            <a:off x="457200" y="566928"/>
            <a:ext cx="8229600" cy="640080"/>
          </a:xfrm>
          <a:prstGeom prst="rect">
            <a:avLst/>
          </a:prstGeom>
          <a:noFill/>
          <a:ln/>
        </p:spPr>
        <p:txBody>
          <a:bodyPr wrap="square" lIns="0" tIns="0" rIns="0" bIns="0" rtlCol="0" anchor="ctr"/>
          <a:lstStyle/>
          <a:p>
            <a:pPr indent="0" marL="0">
              <a:buNone/>
            </a:pPr>
            <a:r>
              <a:rPr lang="en-US" sz="3000" dirty="0">
                <a:solidFill>
                  <a:srgbClr val="1B2B38"/>
                </a:solidFill>
                <a:latin typeface="Segoe UI Semibold" pitchFamily="34" charset="0"/>
                <a:ea typeface="Segoe UI Semibold" pitchFamily="34" charset="-122"/>
                <a:cs typeface="Segoe UI Semibold" pitchFamily="34" charset="-120"/>
              </a:rPr>
              <a:t>The agent signs in as itself</a:t>
            </a:r>
            <a:endParaRPr lang="en-US" sz="3000" dirty="0"/>
          </a:p>
        </p:txBody>
      </p:sp>
      <p:sp>
        <p:nvSpPr>
          <p:cNvPr id="4" name="Shape 2"/>
          <p:cNvSpPr/>
          <p:nvPr/>
        </p:nvSpPr>
        <p:spPr>
          <a:xfrm>
            <a:off x="457200" y="1371600"/>
            <a:ext cx="1851660" cy="1188720"/>
          </a:xfrm>
          <a:prstGeom prst="rect">
            <a:avLst/>
          </a:prstGeom>
          <a:solidFill>
            <a:srgbClr val="FFFFFF"/>
          </a:solidFill>
          <a:ln w="12700">
            <a:solidFill>
              <a:srgbClr val="D5DCE2"/>
            </a:solidFill>
            <a:prstDash val="solid"/>
          </a:ln>
        </p:spPr>
      </p:sp>
      <p:sp>
        <p:nvSpPr>
          <p:cNvPr id="5" name="Shape 3"/>
          <p:cNvSpPr/>
          <p:nvPr/>
        </p:nvSpPr>
        <p:spPr>
          <a:xfrm>
            <a:off x="457200" y="1371600"/>
            <a:ext cx="54864" cy="1188720"/>
          </a:xfrm>
          <a:prstGeom prst="rect">
            <a:avLst/>
          </a:prstGeom>
          <a:solidFill>
            <a:srgbClr val="F2A93B"/>
          </a:solidFill>
          <a:ln/>
        </p:spPr>
      </p:sp>
      <p:sp>
        <p:nvSpPr>
          <p:cNvPr id="6" name="Text 4"/>
          <p:cNvSpPr/>
          <p:nvPr/>
        </p:nvSpPr>
        <p:spPr>
          <a:xfrm>
            <a:off x="621792" y="148132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Agent identity</a:t>
            </a:r>
            <a:endParaRPr lang="en-US" sz="1300" dirty="0"/>
          </a:p>
        </p:txBody>
      </p:sp>
      <p:sp>
        <p:nvSpPr>
          <p:cNvPr id="7" name="Text 5"/>
          <p:cNvSpPr/>
          <p:nvPr/>
        </p:nvSpPr>
        <p:spPr>
          <a:xfrm>
            <a:off x="621792" y="1874520"/>
            <a:ext cx="1595628" cy="594360"/>
          </a:xfrm>
          <a:prstGeom prst="rect">
            <a:avLst/>
          </a:prstGeom>
          <a:noFill/>
          <a:ln/>
        </p:spPr>
        <p:txBody>
          <a:bodyPr wrap="square" lIns="0" tIns="0" rIns="0" bIns="0" rtlCol="0" anchor="t"/>
          <a:lstStyle/>
          <a:p>
            <a:pPr indent="0" marL="0">
              <a:buNone/>
            </a:pPr>
            <a:r>
              <a:rPr lang="en-US" sz="1100" dirty="0">
                <a:solidFill>
                  <a:srgbClr val="5B6B7A"/>
                </a:solidFill>
                <a:latin typeface="Segoe UI" pitchFamily="34" charset="0"/>
                <a:ea typeface="Segoe UI" pitchFamily="34" charset="-122"/>
                <a:cs typeface="Segoe UI" pitchFamily="34" charset="-120"/>
              </a:rPr>
              <a:t>Entra Agent ID, created with the Foundry agent</a:t>
            </a:r>
            <a:endParaRPr lang="en-US" sz="1100" dirty="0"/>
          </a:p>
        </p:txBody>
      </p:sp>
      <p:sp>
        <p:nvSpPr>
          <p:cNvPr id="8" name="Text 6"/>
          <p:cNvSpPr/>
          <p:nvPr/>
        </p:nvSpPr>
        <p:spPr>
          <a:xfrm>
            <a:off x="2308860" y="1783080"/>
            <a:ext cx="274320" cy="365760"/>
          </a:xfrm>
          <a:prstGeom prst="rect">
            <a:avLst/>
          </a:prstGeom>
          <a:noFill/>
          <a:ln/>
        </p:spPr>
        <p:txBody>
          <a:bodyPr wrap="square" lIns="0" tIns="0" rIns="0" bIns="0" rtlCol="0" anchor="ctr"/>
          <a:lstStyle/>
          <a:p>
            <a:pPr algn="ctr" indent="0" marL="0">
              <a:buNone/>
            </a:pPr>
            <a:r>
              <a:rPr lang="en-US" sz="1600" dirty="0">
                <a:solidFill>
                  <a:srgbClr val="1F7A8C"/>
                </a:solidFill>
                <a:latin typeface="Segoe UI" pitchFamily="34" charset="0"/>
                <a:ea typeface="Segoe UI" pitchFamily="34" charset="-122"/>
                <a:cs typeface="Segoe UI" pitchFamily="34" charset="-120"/>
              </a:rPr>
              <a:t>→</a:t>
            </a:r>
            <a:endParaRPr lang="en-US" sz="1600" dirty="0"/>
          </a:p>
        </p:txBody>
      </p:sp>
      <p:sp>
        <p:nvSpPr>
          <p:cNvPr id="9" name="Shape 7"/>
          <p:cNvSpPr/>
          <p:nvPr/>
        </p:nvSpPr>
        <p:spPr>
          <a:xfrm>
            <a:off x="2583180" y="1371600"/>
            <a:ext cx="1851660" cy="1188720"/>
          </a:xfrm>
          <a:prstGeom prst="rect">
            <a:avLst/>
          </a:prstGeom>
          <a:solidFill>
            <a:srgbClr val="FFFFFF"/>
          </a:solidFill>
          <a:ln w="12700">
            <a:solidFill>
              <a:srgbClr val="D5DCE2"/>
            </a:solidFill>
            <a:prstDash val="solid"/>
          </a:ln>
        </p:spPr>
      </p:sp>
      <p:sp>
        <p:nvSpPr>
          <p:cNvPr id="10" name="Shape 8"/>
          <p:cNvSpPr/>
          <p:nvPr/>
        </p:nvSpPr>
        <p:spPr>
          <a:xfrm>
            <a:off x="2583180" y="1371600"/>
            <a:ext cx="54864" cy="1188720"/>
          </a:xfrm>
          <a:prstGeom prst="rect">
            <a:avLst/>
          </a:prstGeom>
          <a:solidFill>
            <a:srgbClr val="F2A93B"/>
          </a:solidFill>
          <a:ln/>
        </p:spPr>
      </p:sp>
      <p:sp>
        <p:nvSpPr>
          <p:cNvPr id="11" name="Text 9"/>
          <p:cNvSpPr/>
          <p:nvPr/>
        </p:nvSpPr>
        <p:spPr>
          <a:xfrm>
            <a:off x="2747772" y="148132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Gateway exchange</a:t>
            </a:r>
            <a:endParaRPr lang="en-US" sz="1300" dirty="0"/>
          </a:p>
        </p:txBody>
      </p:sp>
      <p:sp>
        <p:nvSpPr>
          <p:cNvPr id="12" name="Text 10"/>
          <p:cNvSpPr/>
          <p:nvPr/>
        </p:nvSpPr>
        <p:spPr>
          <a:xfrm>
            <a:off x="2747772" y="1874520"/>
            <a:ext cx="1595628" cy="594360"/>
          </a:xfrm>
          <a:prstGeom prst="rect">
            <a:avLst/>
          </a:prstGeom>
          <a:noFill/>
          <a:ln/>
        </p:spPr>
        <p:txBody>
          <a:bodyPr wrap="square" lIns="0" tIns="0" rIns="0" bIns="0" rtlCol="0" anchor="t"/>
          <a:lstStyle/>
          <a:p>
            <a:pPr indent="0" marL="0">
              <a:buNone/>
            </a:pPr>
            <a:r>
              <a:rPr lang="en-US" sz="1100" dirty="0">
                <a:solidFill>
                  <a:srgbClr val="5B6B7A"/>
                </a:solidFill>
                <a:latin typeface="Segoe UI" pitchFamily="34" charset="0"/>
                <a:ea typeface="Segoe UI" pitchFamily="34" charset="-122"/>
                <a:cs typeface="Segoe UI" pitchFamily="34" charset="-120"/>
              </a:rPr>
              <a:t>Managed identity → blueprint → agent identity</a:t>
            </a:r>
            <a:endParaRPr lang="en-US" sz="1100" dirty="0"/>
          </a:p>
        </p:txBody>
      </p:sp>
      <p:sp>
        <p:nvSpPr>
          <p:cNvPr id="13" name="Text 11"/>
          <p:cNvSpPr/>
          <p:nvPr/>
        </p:nvSpPr>
        <p:spPr>
          <a:xfrm>
            <a:off x="4434840" y="1783080"/>
            <a:ext cx="274320" cy="365760"/>
          </a:xfrm>
          <a:prstGeom prst="rect">
            <a:avLst/>
          </a:prstGeom>
          <a:noFill/>
          <a:ln/>
        </p:spPr>
        <p:txBody>
          <a:bodyPr wrap="square" lIns="0" tIns="0" rIns="0" bIns="0" rtlCol="0" anchor="ctr"/>
          <a:lstStyle/>
          <a:p>
            <a:pPr algn="ctr" indent="0" marL="0">
              <a:buNone/>
            </a:pPr>
            <a:r>
              <a:rPr lang="en-US" sz="1600" dirty="0">
                <a:solidFill>
                  <a:srgbClr val="1F7A8C"/>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709160" y="1371600"/>
            <a:ext cx="1851660" cy="1188720"/>
          </a:xfrm>
          <a:prstGeom prst="rect">
            <a:avLst/>
          </a:prstGeom>
          <a:solidFill>
            <a:srgbClr val="FFFFFF"/>
          </a:solidFill>
          <a:ln w="12700">
            <a:solidFill>
              <a:srgbClr val="D5DCE2"/>
            </a:solidFill>
            <a:prstDash val="solid"/>
          </a:ln>
        </p:spPr>
      </p:sp>
      <p:sp>
        <p:nvSpPr>
          <p:cNvPr id="15" name="Shape 13"/>
          <p:cNvSpPr/>
          <p:nvPr/>
        </p:nvSpPr>
        <p:spPr>
          <a:xfrm>
            <a:off x="4709160" y="1371600"/>
            <a:ext cx="54864" cy="1188720"/>
          </a:xfrm>
          <a:prstGeom prst="rect">
            <a:avLst/>
          </a:prstGeom>
          <a:solidFill>
            <a:srgbClr val="F2A93B"/>
          </a:solidFill>
          <a:ln/>
        </p:spPr>
      </p:sp>
      <p:sp>
        <p:nvSpPr>
          <p:cNvPr id="16" name="Text 14"/>
          <p:cNvSpPr/>
          <p:nvPr/>
        </p:nvSpPr>
        <p:spPr>
          <a:xfrm>
            <a:off x="4873752" y="148132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Agent user</a:t>
            </a:r>
            <a:endParaRPr lang="en-US" sz="1300" dirty="0"/>
          </a:p>
        </p:txBody>
      </p:sp>
      <p:sp>
        <p:nvSpPr>
          <p:cNvPr id="17" name="Text 15"/>
          <p:cNvSpPr/>
          <p:nvPr/>
        </p:nvSpPr>
        <p:spPr>
          <a:xfrm>
            <a:off x="4873752" y="1874520"/>
            <a:ext cx="1595628" cy="594360"/>
          </a:xfrm>
          <a:prstGeom prst="rect">
            <a:avLst/>
          </a:prstGeom>
          <a:noFill/>
          <a:ln/>
        </p:spPr>
        <p:txBody>
          <a:bodyPr wrap="square" lIns="0" tIns="0" rIns="0" bIns="0" rtlCol="0" anchor="t"/>
          <a:lstStyle/>
          <a:p>
            <a:pPr indent="0" marL="0">
              <a:buNone/>
            </a:pPr>
            <a:r>
              <a:rPr lang="en-US" sz="1000" dirty="0">
                <a:solidFill>
                  <a:srgbClr val="5B6B7A"/>
                </a:solidFill>
                <a:latin typeface="Consolas" pitchFamily="34" charset="0"/>
                <a:ea typeface="Consolas" pitchFamily="34" charset="-122"/>
                <a:cs typeface="Consolas" pitchFamily="34" charset="-120"/>
              </a:rPr>
              <a:t>documentation-agent@… with its own licence and rights</a:t>
            </a:r>
            <a:endParaRPr lang="en-US" sz="1000" dirty="0"/>
          </a:p>
        </p:txBody>
      </p:sp>
      <p:sp>
        <p:nvSpPr>
          <p:cNvPr id="18" name="Text 16"/>
          <p:cNvSpPr/>
          <p:nvPr/>
        </p:nvSpPr>
        <p:spPr>
          <a:xfrm>
            <a:off x="6560820" y="1783080"/>
            <a:ext cx="274320" cy="365760"/>
          </a:xfrm>
          <a:prstGeom prst="rect">
            <a:avLst/>
          </a:prstGeom>
          <a:noFill/>
          <a:ln/>
        </p:spPr>
        <p:txBody>
          <a:bodyPr wrap="square" lIns="0" tIns="0" rIns="0" bIns="0" rtlCol="0" anchor="ctr"/>
          <a:lstStyle/>
          <a:p>
            <a:pPr algn="ctr" indent="0" marL="0">
              <a:buNone/>
            </a:pPr>
            <a:r>
              <a:rPr lang="en-US" sz="1600" dirty="0">
                <a:solidFill>
                  <a:srgbClr val="1F7A8C"/>
                </a:solidFill>
                <a:latin typeface="Segoe UI" pitchFamily="34" charset="0"/>
                <a:ea typeface="Segoe UI" pitchFamily="34" charset="-122"/>
                <a:cs typeface="Segoe UI" pitchFamily="34" charset="-120"/>
              </a:rPr>
              <a:t>→</a:t>
            </a:r>
            <a:endParaRPr lang="en-US" sz="1600" dirty="0"/>
          </a:p>
        </p:txBody>
      </p:sp>
      <p:sp>
        <p:nvSpPr>
          <p:cNvPr id="19" name="Shape 17"/>
          <p:cNvSpPr/>
          <p:nvPr/>
        </p:nvSpPr>
        <p:spPr>
          <a:xfrm>
            <a:off x="6835140" y="1371600"/>
            <a:ext cx="1851660" cy="1188720"/>
          </a:xfrm>
          <a:prstGeom prst="rect">
            <a:avLst/>
          </a:prstGeom>
          <a:solidFill>
            <a:srgbClr val="DCEEF1"/>
          </a:solidFill>
          <a:ln w="12700">
            <a:solidFill>
              <a:srgbClr val="1F7A8C"/>
            </a:solidFill>
            <a:prstDash val="solid"/>
          </a:ln>
        </p:spPr>
      </p:sp>
      <p:sp>
        <p:nvSpPr>
          <p:cNvPr id="20" name="Shape 18"/>
          <p:cNvSpPr/>
          <p:nvPr/>
        </p:nvSpPr>
        <p:spPr>
          <a:xfrm>
            <a:off x="6835140" y="1371600"/>
            <a:ext cx="54864" cy="1188720"/>
          </a:xfrm>
          <a:prstGeom prst="rect">
            <a:avLst/>
          </a:prstGeom>
          <a:solidFill>
            <a:srgbClr val="1F7A8C"/>
          </a:solidFill>
          <a:ln/>
        </p:spPr>
      </p:sp>
      <p:sp>
        <p:nvSpPr>
          <p:cNvPr id="21" name="Text 19"/>
          <p:cNvSpPr/>
          <p:nvPr/>
        </p:nvSpPr>
        <p:spPr>
          <a:xfrm>
            <a:off x="6999732" y="1481328"/>
            <a:ext cx="1595628" cy="365760"/>
          </a:xfrm>
          <a:prstGeom prst="rect">
            <a:avLst/>
          </a:prstGeom>
          <a:noFill/>
          <a:ln/>
        </p:spPr>
        <p:txBody>
          <a:bodyPr wrap="square" lIns="0" tIns="0" rIns="0" bIns="0" rtlCol="0" anchor="t"/>
          <a:lstStyle/>
          <a:p>
            <a:pPr indent="0" marL="0">
              <a:buNone/>
            </a:pPr>
            <a:r>
              <a:rPr lang="en-US" sz="1300" dirty="0">
                <a:solidFill>
                  <a:srgbClr val="1B2B38"/>
                </a:solidFill>
                <a:latin typeface="Segoe UI Semibold" pitchFamily="34" charset="0"/>
                <a:ea typeface="Segoe UI Semibold" pitchFamily="34" charset="-122"/>
                <a:cs typeface="Segoe UI Semibold" pitchFamily="34" charset="-120"/>
              </a:rPr>
              <a:t>Azure DevOps</a:t>
            </a:r>
            <a:endParaRPr lang="en-US" sz="1300" dirty="0"/>
          </a:p>
        </p:txBody>
      </p:sp>
      <p:sp>
        <p:nvSpPr>
          <p:cNvPr id="22" name="Text 20"/>
          <p:cNvSpPr/>
          <p:nvPr/>
        </p:nvSpPr>
        <p:spPr>
          <a:xfrm>
            <a:off x="6999732" y="1874520"/>
            <a:ext cx="1595628" cy="594360"/>
          </a:xfrm>
          <a:prstGeom prst="rect">
            <a:avLst/>
          </a:prstGeom>
          <a:noFill/>
          <a:ln/>
        </p:spPr>
        <p:txBody>
          <a:bodyPr wrap="square" lIns="0" tIns="0" rIns="0" bIns="0" rtlCol="0" anchor="t"/>
          <a:lstStyle/>
          <a:p>
            <a:pPr indent="0" marL="0">
              <a:buNone/>
            </a:pPr>
            <a:r>
              <a:rPr lang="en-US" sz="1100" dirty="0">
                <a:solidFill>
                  <a:srgbClr val="5B6B7A"/>
                </a:solidFill>
                <a:latin typeface="Segoe UI" pitchFamily="34" charset="0"/>
                <a:ea typeface="Segoe UI" pitchFamily="34" charset="-122"/>
                <a:cs typeface="Segoe UI" pitchFamily="34" charset="-120"/>
              </a:rPr>
              <a:t>Wiki commit by "documentation-agent (agent user)"</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788920"/>
          <a:ext cx="5486400" cy="914400"/>
        </p:xfrm>
        <a:graphic>
          <a:graphicData uri="http://schemas.openxmlformats.org/drawingml/2006/table">
            <a:tbl>
              <a:tblPr/>
              <a:tblGrid>
                <a:gridCol w="1645920"/>
                <a:gridCol w="3840480"/>
              </a:tblGrid>
              <a:tr h="329184">
                <a:tc>
                  <a:txBody>
                    <a:bodyPr/>
                    <a:lstStyle/>
                    <a:p>
                      <a:pPr indent="0" marL="0">
                        <a:buNone/>
                      </a:pPr>
                      <a:r>
                        <a:rPr lang="en-US" sz="1100" b="1" dirty="0">
                          <a:solidFill>
                            <a:srgbClr val="FFFFFF"/>
                          </a:solidFill>
                          <a:latin typeface="Segoe UI" pitchFamily="34" charset="0"/>
                          <a:ea typeface="Segoe UI" pitchFamily="34" charset="-122"/>
                          <a:cs typeface="Segoe UI" pitchFamily="34" charset="-120"/>
                        </a:rPr>
                        <a:t>Connection</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1F7A8C"/>
                    </a:solidFill>
                  </a:tcPr>
                </a:tc>
                <a:tc>
                  <a:txBody>
                    <a:bodyPr/>
                    <a:lstStyle/>
                    <a:p>
                      <a:pPr indent="0" marL="0">
                        <a:buNone/>
                      </a:pPr>
                      <a:r>
                        <a:rPr lang="en-US" sz="1100" b="1" dirty="0">
                          <a:solidFill>
                            <a:srgbClr val="FFFFFF"/>
                          </a:solidFill>
                          <a:latin typeface="Segoe UI" pitchFamily="34" charset="0"/>
                          <a:ea typeface="Segoe UI" pitchFamily="34" charset="-122"/>
                          <a:cs typeface="Segoe UI" pitchFamily="34" charset="-120"/>
                        </a:rPr>
                        <a:t>Who signs in</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1F7A8C"/>
                    </a:solidFill>
                  </a:tcPr>
                </a:tc>
              </a:tr>
              <a:tr h="329184">
                <a:tc>
                  <a:txBody>
                    <a:bodyPr/>
                    <a:lstStyle/>
                    <a:p>
                      <a:pPr indent="0" marL="0">
                        <a:buNone/>
                      </a:pPr>
                      <a:r>
                        <a:rPr lang="en-US" sz="1100" dirty="0">
                          <a:solidFill>
                            <a:srgbClr val="1B2B38"/>
                          </a:solidFill>
                          <a:latin typeface="Segoe UI" pitchFamily="34" charset="0"/>
                          <a:ea typeface="Segoe UI" pitchFamily="34" charset="-122"/>
                          <a:cs typeface="Segoe UI" pitchFamily="34" charset="-120"/>
                        </a:rPr>
                        <a:t>Foundry IQ</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B2B38"/>
                          </a:solidFill>
                          <a:latin typeface="Segoe UI" pitchFamily="34" charset="0"/>
                          <a:ea typeface="Segoe UI" pitchFamily="34" charset="-122"/>
                          <a:cs typeface="Segoe UI" pitchFamily="34" charset="-120"/>
                        </a:rPr>
                        <a:t>Project managed identity</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B2B38"/>
                          </a:solidFill>
                          <a:latin typeface="Segoe UI" pitchFamily="34" charset="0"/>
                          <a:ea typeface="Segoe UI" pitchFamily="34" charset="-122"/>
                          <a:cs typeface="Segoe UI" pitchFamily="34" charset="-120"/>
                        </a:rPr>
                        <a:t>GitHub</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B2B38"/>
                          </a:solidFill>
                          <a:latin typeface="Segoe UI" pitchFamily="34" charset="0"/>
                          <a:ea typeface="Segoe UI" pitchFamily="34" charset="-122"/>
                          <a:cs typeface="Segoe UI" pitchFamily="34" charset="-120"/>
                        </a:rPr>
                        <a:t>Fine-grained token (production: GitHub App)</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B2B38"/>
                          </a:solidFill>
                          <a:latin typeface="Segoe UI" pitchFamily="34" charset="0"/>
                          <a:ea typeface="Segoe UI" pitchFamily="34" charset="-122"/>
                          <a:cs typeface="Segoe UI" pitchFamily="34" charset="-120"/>
                        </a:rPr>
                        <a:t>Azure DevOps</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FFFFFF"/>
                    </a:solidFill>
                  </a:tcPr>
                </a:tc>
                <a:tc>
                  <a:txBody>
                    <a:bodyPr/>
                    <a:lstStyle/>
                    <a:p>
                      <a:pPr indent="0" marL="0">
                        <a:buNone/>
                      </a:pPr>
                      <a:r>
                        <a:rPr lang="en-US" sz="1100" dirty="0">
                          <a:solidFill>
                            <a:srgbClr val="1B2B38"/>
                          </a:solidFill>
                          <a:latin typeface="Segoe UI" pitchFamily="34" charset="0"/>
                          <a:ea typeface="Segoe UI" pitchFamily="34" charset="-122"/>
                          <a:cs typeface="Segoe UI" pitchFamily="34" charset="-120"/>
                        </a:rPr>
                        <a:t>The agent user, never a person</a:t>
                      </a:r>
                      <a:endParaRPr lang="en-US" sz="1100" dirty="0">
                        <a:latin typeface="Segoe UI" charset="0"/>
                        <a:ea typeface="Segoe UI" charset="0"/>
                        <a:cs typeface="Segoe UI" charset="0"/>
                      </a:endParaRPr>
                    </a:p>
                  </a:txBody>
                  <a:tcPr marL="91440" marR="91440" marT="45720" marB="45720" anchor="ctr">
                    <a:lnL w="9525" cap="flat" cmpd="sng" algn="ctr">
                      <a:solidFill>
                        <a:srgbClr val="D5DCE2"/>
                      </a:solidFill>
                      <a:prstDash val="solid"/>
                      <a:round/>
                      <a:headEnd type="none" w="med" len="med"/>
                      <a:tailEnd type="none" w="med" len="med"/>
                    </a:lnL>
                    <a:lnR w="9525" cap="flat" cmpd="sng" algn="ctr">
                      <a:solidFill>
                        <a:srgbClr val="D5DCE2"/>
                      </a:solidFill>
                      <a:prstDash val="solid"/>
                      <a:round/>
                      <a:headEnd type="none" w="med" len="med"/>
                      <a:tailEnd type="none" w="med" len="med"/>
                    </a:lnR>
                    <a:lnT w="9525" cap="flat" cmpd="sng" algn="ctr">
                      <a:solidFill>
                        <a:srgbClr val="D5DCE2"/>
                      </a:solidFill>
                      <a:prstDash val="solid"/>
                      <a:round/>
                      <a:headEnd type="none" w="med" len="med"/>
                      <a:tailEnd type="none" w="med" len="med"/>
                    </a:lnT>
                    <a:lnB w="9525" cap="flat" cmpd="sng" algn="ctr">
                      <a:solidFill>
                        <a:srgbClr val="D5DCE2"/>
                      </a:solidFill>
                      <a:prstDash val="solid"/>
                      <a:round/>
                      <a:headEnd type="none" w="med" len="med"/>
                      <a:tailEnd type="none" w="med" len="med"/>
                    </a:lnB>
                    <a:solidFill>
                      <a:srgbClr val="FFFFFF"/>
                    </a:solidFill>
                  </a:tcPr>
                </a:tc>
              </a:tr>
            </a:tbl>
          </a:graphicData>
        </a:graphic>
      </p:graphicFrame>
      <p:sp>
        <p:nvSpPr>
          <p:cNvPr id="24" name="Shape 21"/>
          <p:cNvSpPr/>
          <p:nvPr/>
        </p:nvSpPr>
        <p:spPr>
          <a:xfrm>
            <a:off x="6217920" y="2788920"/>
            <a:ext cx="2468880" cy="1316736"/>
          </a:xfrm>
          <a:prstGeom prst="rect">
            <a:avLst/>
          </a:prstGeom>
          <a:solidFill>
            <a:srgbClr val="FDF1DC"/>
          </a:solidFill>
          <a:ln w="12700">
            <a:solidFill>
              <a:srgbClr val="F2A93B"/>
            </a:solidFill>
            <a:prstDash val="solid"/>
          </a:ln>
        </p:spPr>
      </p:sp>
      <p:sp>
        <p:nvSpPr>
          <p:cNvPr id="25" name="Text 22"/>
          <p:cNvSpPr/>
          <p:nvPr/>
        </p:nvSpPr>
        <p:spPr>
          <a:xfrm>
            <a:off x="6355080" y="2852928"/>
            <a:ext cx="2240280" cy="1188720"/>
          </a:xfrm>
          <a:prstGeom prst="rect">
            <a:avLst/>
          </a:prstGeom>
          <a:noFill/>
          <a:ln/>
        </p:spPr>
        <p:txBody>
          <a:bodyPr wrap="square" lIns="0" tIns="0" rIns="0" bIns="0" rtlCol="0" anchor="t"/>
          <a:lstStyle/>
          <a:p>
            <a:pPr indent="0" marL="0">
              <a:spcAft>
                <a:spcPts val="400"/>
              </a:spcAft>
              <a:buNone/>
            </a:pPr>
            <a:r>
              <a:rPr lang="en-US" sz="1200" dirty="0">
                <a:solidFill>
                  <a:srgbClr val="1B2B38"/>
                </a:solidFill>
                <a:latin typeface="Segoe UI Semibold" pitchFamily="34" charset="0"/>
                <a:ea typeface="Segoe UI Semibold" pitchFamily="34" charset="-122"/>
                <a:cs typeface="Segoe UI Semibold" pitchFamily="34" charset="-120"/>
              </a:rPr>
              <a:t>Security debt</a:t>
            </a:r>
            <a:endParaRPr lang="en-US" sz="1200" dirty="0"/>
          </a:p>
          <a:p>
            <a:pPr indent="0" marL="0">
              <a:spcAft>
                <a:spcPts val="400"/>
              </a:spcAft>
              <a:buNone/>
            </a:pPr>
            <a:r>
              <a:rPr lang="en-US" sz="1200" dirty="0">
                <a:solidFill>
                  <a:srgbClr val="1B2B38"/>
                </a:solidFill>
                <a:latin typeface="Segoe UI" pitchFamily="34" charset="0"/>
                <a:ea typeface="Segoe UI" pitchFamily="34" charset="-122"/>
                <a:cs typeface="Segoe UI" pitchFamily="34" charset="-120"/>
              </a:rPr>
              <a:t>The agent user has Basic + Contributors so it can write. Narrowing it is the hardening step.</a:t>
            </a:r>
            <a:endParaRPr lang="en-US" sz="1200" dirty="0"/>
          </a:p>
        </p:txBody>
      </p:sp>
      <p:sp>
        <p:nvSpPr>
          <p:cNvPr id="26" name="Shape 23"/>
          <p:cNvSpPr/>
          <p:nvPr/>
        </p:nvSpPr>
        <p:spPr>
          <a:xfrm>
            <a:off x="0" y="4526280"/>
            <a:ext cx="9144000" cy="617220"/>
          </a:xfrm>
          <a:prstGeom prst="rect">
            <a:avLst/>
          </a:prstGeom>
          <a:solidFill>
            <a:srgbClr val="0F2A3D"/>
          </a:solidFill>
          <a:ln/>
        </p:spPr>
      </p:sp>
      <p:sp>
        <p:nvSpPr>
          <p:cNvPr id="27" name="Shape 24"/>
          <p:cNvSpPr/>
          <p:nvPr/>
        </p:nvSpPr>
        <p:spPr>
          <a:xfrm>
            <a:off x="457200" y="4663440"/>
            <a:ext cx="1051560" cy="329184"/>
          </a:xfrm>
          <a:prstGeom prst="roundRect">
            <a:avLst>
              <a:gd name="adj" fmla="val 16667"/>
            </a:avLst>
          </a:prstGeom>
          <a:solidFill>
            <a:srgbClr val="F2A93B"/>
          </a:solidFill>
          <a:ln/>
        </p:spPr>
      </p:sp>
      <p:sp>
        <p:nvSpPr>
          <p:cNvPr id="28" name="Text 25"/>
          <p:cNvSpPr/>
          <p:nvPr/>
        </p:nvSpPr>
        <p:spPr>
          <a:xfrm>
            <a:off x="457200" y="4663440"/>
            <a:ext cx="1051560" cy="329184"/>
          </a:xfrm>
          <a:prstGeom prst="rect">
            <a:avLst/>
          </a:prstGeom>
          <a:noFill/>
          <a:ln/>
        </p:spPr>
        <p:txBody>
          <a:bodyPr wrap="square" lIns="0" tIns="0" rIns="0" bIns="0" rtlCol="0" anchor="ctr"/>
          <a:lstStyle/>
          <a:p>
            <a:pPr algn="ctr" indent="0" marL="0">
              <a:buNone/>
            </a:pPr>
            <a:r>
              <a:rPr lang="en-US" sz="1000" b="1" dirty="0">
                <a:solidFill>
                  <a:srgbClr val="0F2A3D"/>
                </a:solidFill>
                <a:latin typeface="Consolas" pitchFamily="34" charset="0"/>
                <a:ea typeface="Consolas" pitchFamily="34" charset="-122"/>
                <a:cs typeface="Consolas" pitchFamily="34" charset="-120"/>
              </a:rPr>
              <a:t>LIVE DEMO</a:t>
            </a:r>
            <a:endParaRPr lang="en-US" sz="1000" dirty="0"/>
          </a:p>
        </p:txBody>
      </p:sp>
      <p:sp>
        <p:nvSpPr>
          <p:cNvPr id="29" name="Text 26"/>
          <p:cNvSpPr/>
          <p:nvPr/>
        </p:nvSpPr>
        <p:spPr>
          <a:xfrm>
            <a:off x="1691640" y="4645152"/>
            <a:ext cx="7040880" cy="36576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Entra Agent ID  ·  ADO refuses a person  ·  wiki history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2A3D"/>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000" spc="300" kern="0" dirty="0">
                <a:solidFill>
                  <a:srgbClr val="F2A93B"/>
                </a:solidFill>
                <a:latin typeface="Consolas" pitchFamily="34" charset="0"/>
                <a:ea typeface="Consolas" pitchFamily="34" charset="-122"/>
                <a:cs typeface="Consolas" pitchFamily="34" charset="-120"/>
              </a:rPr>
              <a:t>4 · AGENT 365</a:t>
            </a:r>
            <a:endParaRPr lang="en-US" sz="1000" dirty="0"/>
          </a:p>
        </p:txBody>
      </p:sp>
      <p:sp>
        <p:nvSpPr>
          <p:cNvPr id="3" name="Text 1"/>
          <p:cNvSpPr/>
          <p:nvPr/>
        </p:nvSpPr>
        <p:spPr>
          <a:xfrm>
            <a:off x="457200" y="566928"/>
            <a:ext cx="8229600" cy="640080"/>
          </a:xfrm>
          <a:prstGeom prst="rect">
            <a:avLst/>
          </a:prstGeom>
          <a:noFill/>
          <a:ln/>
        </p:spPr>
        <p:txBody>
          <a:bodyPr wrap="square" lIns="0" tIns="0" rIns="0" bIns="0" rtlCol="0" anchor="ctr"/>
          <a:lstStyle/>
          <a:p>
            <a:pPr indent="0" marL="0">
              <a:buNone/>
            </a:pPr>
            <a:r>
              <a:rPr lang="en-US" sz="3000" dirty="0">
                <a:solidFill>
                  <a:srgbClr val="FFFFFF"/>
                </a:solidFill>
                <a:latin typeface="Segoe UI Semibold" pitchFamily="34" charset="0"/>
                <a:ea typeface="Segoe UI Semibold" pitchFamily="34" charset="-122"/>
                <a:cs typeface="Segoe UI Semibold" pitchFamily="34" charset="-120"/>
              </a:rPr>
              <a:t>Govern every agent from one place</a:t>
            </a:r>
            <a:endParaRPr lang="en-US" sz="3000" dirty="0"/>
          </a:p>
        </p:txBody>
      </p:sp>
      <p:sp>
        <p:nvSpPr>
          <p:cNvPr id="4" name="Shape 2"/>
          <p:cNvSpPr/>
          <p:nvPr/>
        </p:nvSpPr>
        <p:spPr>
          <a:xfrm>
            <a:off x="457200" y="1417320"/>
            <a:ext cx="4023360" cy="1005840"/>
          </a:xfrm>
          <a:prstGeom prst="rect">
            <a:avLst/>
          </a:prstGeom>
          <a:solidFill>
            <a:srgbClr val="17384F"/>
          </a:solidFill>
          <a:ln w="12700">
            <a:solidFill>
              <a:srgbClr val="2C5470"/>
            </a:solidFill>
            <a:prstDash val="solid"/>
          </a:ln>
        </p:spPr>
      </p:sp>
      <p:sp>
        <p:nvSpPr>
          <p:cNvPr id="5" name="Shape 3"/>
          <p:cNvSpPr/>
          <p:nvPr/>
        </p:nvSpPr>
        <p:spPr>
          <a:xfrm>
            <a:off x="457200" y="1417320"/>
            <a:ext cx="54864" cy="1005840"/>
          </a:xfrm>
          <a:prstGeom prst="rect">
            <a:avLst/>
          </a:prstGeom>
          <a:solidFill>
            <a:srgbClr val="F2A93B"/>
          </a:solidFill>
          <a:ln/>
        </p:spPr>
      </p:sp>
      <p:sp>
        <p:nvSpPr>
          <p:cNvPr id="6" name="Text 4"/>
          <p:cNvSpPr/>
          <p:nvPr/>
        </p:nvSpPr>
        <p:spPr>
          <a:xfrm>
            <a:off x="685800" y="1527048"/>
            <a:ext cx="3657600" cy="320040"/>
          </a:xfrm>
          <a:prstGeom prst="rect">
            <a:avLst/>
          </a:prstGeom>
          <a:noFill/>
          <a:ln/>
        </p:spPr>
        <p:txBody>
          <a:bodyPr wrap="square" lIns="0" tIns="0" rIns="0" bIns="0" rtlCol="0" anchor="ctr"/>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Registry</a:t>
            </a:r>
            <a:endParaRPr lang="en-US" sz="1500" dirty="0"/>
          </a:p>
        </p:txBody>
      </p:sp>
      <p:sp>
        <p:nvSpPr>
          <p:cNvPr id="7" name="Text 5"/>
          <p:cNvSpPr/>
          <p:nvPr/>
        </p:nvSpPr>
        <p:spPr>
          <a:xfrm>
            <a:off x="685800" y="1874520"/>
            <a:ext cx="3657600" cy="457200"/>
          </a:xfrm>
          <a:prstGeom prst="rect">
            <a:avLst/>
          </a:prstGeom>
          <a:noFill/>
          <a:ln/>
        </p:spPr>
        <p:txBody>
          <a:bodyPr wrap="square" lIns="0" tIns="0" rIns="0" bIns="0" rtlCol="0" anchor="t"/>
          <a:lstStyle/>
          <a:p>
            <a:pPr indent="0" marL="0">
              <a:buNone/>
            </a:pPr>
            <a:r>
              <a:rPr lang="en-US" sz="1200" dirty="0">
                <a:solidFill>
                  <a:srgbClr val="C6D4DE"/>
                </a:solidFill>
                <a:latin typeface="Segoe UI" pitchFamily="34" charset="0"/>
                <a:ea typeface="Segoe UI" pitchFamily="34" charset="-122"/>
                <a:cs typeface="Segoe UI" pitchFamily="34" charset="-120"/>
              </a:rPr>
              <a:t>Every published Foundry agent appears, with its owner</a:t>
            </a:r>
            <a:endParaRPr lang="en-US" sz="1200" dirty="0"/>
          </a:p>
        </p:txBody>
      </p:sp>
      <p:sp>
        <p:nvSpPr>
          <p:cNvPr id="8" name="Shape 6"/>
          <p:cNvSpPr/>
          <p:nvPr/>
        </p:nvSpPr>
        <p:spPr>
          <a:xfrm>
            <a:off x="4663440" y="1417320"/>
            <a:ext cx="4023360" cy="1005840"/>
          </a:xfrm>
          <a:prstGeom prst="rect">
            <a:avLst/>
          </a:prstGeom>
          <a:solidFill>
            <a:srgbClr val="17384F"/>
          </a:solidFill>
          <a:ln w="12700">
            <a:solidFill>
              <a:srgbClr val="2C5470"/>
            </a:solidFill>
            <a:prstDash val="solid"/>
          </a:ln>
        </p:spPr>
      </p:sp>
      <p:sp>
        <p:nvSpPr>
          <p:cNvPr id="9" name="Shape 7"/>
          <p:cNvSpPr/>
          <p:nvPr/>
        </p:nvSpPr>
        <p:spPr>
          <a:xfrm>
            <a:off x="4663440" y="1417320"/>
            <a:ext cx="54864" cy="1005840"/>
          </a:xfrm>
          <a:prstGeom prst="rect">
            <a:avLst/>
          </a:prstGeom>
          <a:solidFill>
            <a:srgbClr val="F2A93B"/>
          </a:solidFill>
          <a:ln/>
        </p:spPr>
      </p:sp>
      <p:sp>
        <p:nvSpPr>
          <p:cNvPr id="10" name="Text 8"/>
          <p:cNvSpPr/>
          <p:nvPr/>
        </p:nvSpPr>
        <p:spPr>
          <a:xfrm>
            <a:off x="4892040" y="1527048"/>
            <a:ext cx="3657600" cy="320040"/>
          </a:xfrm>
          <a:prstGeom prst="rect">
            <a:avLst/>
          </a:prstGeom>
          <a:noFill/>
          <a:ln/>
        </p:spPr>
        <p:txBody>
          <a:bodyPr wrap="square" lIns="0" tIns="0" rIns="0" bIns="0" rtlCol="0" anchor="ctr"/>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Access</a:t>
            </a:r>
            <a:endParaRPr lang="en-US" sz="1500" dirty="0"/>
          </a:p>
        </p:txBody>
      </p:sp>
      <p:sp>
        <p:nvSpPr>
          <p:cNvPr id="11" name="Text 9"/>
          <p:cNvSpPr/>
          <p:nvPr/>
        </p:nvSpPr>
        <p:spPr>
          <a:xfrm>
            <a:off x="4892040" y="1874520"/>
            <a:ext cx="3657600" cy="457200"/>
          </a:xfrm>
          <a:prstGeom prst="rect">
            <a:avLst/>
          </a:prstGeom>
          <a:noFill/>
          <a:ln/>
        </p:spPr>
        <p:txBody>
          <a:bodyPr wrap="square" lIns="0" tIns="0" rIns="0" bIns="0" rtlCol="0" anchor="t"/>
          <a:lstStyle/>
          <a:p>
            <a:pPr indent="0" marL="0">
              <a:buNone/>
            </a:pPr>
            <a:r>
              <a:rPr lang="en-US" sz="1200" dirty="0">
                <a:solidFill>
                  <a:srgbClr val="C6D4DE"/>
                </a:solidFill>
                <a:latin typeface="Segoe UI" pitchFamily="34" charset="0"/>
                <a:ea typeface="Segoe UI" pitchFamily="34" charset="-122"/>
                <a:cs typeface="Segoe UI" pitchFamily="34" charset="-120"/>
              </a:rPr>
              <a:t>Conditional Access and access reviews on the agent identity</a:t>
            </a:r>
            <a:endParaRPr lang="en-US" sz="1200" dirty="0"/>
          </a:p>
        </p:txBody>
      </p:sp>
      <p:sp>
        <p:nvSpPr>
          <p:cNvPr id="12" name="Shape 10"/>
          <p:cNvSpPr/>
          <p:nvPr/>
        </p:nvSpPr>
        <p:spPr>
          <a:xfrm>
            <a:off x="457200" y="2606040"/>
            <a:ext cx="4023360" cy="1005840"/>
          </a:xfrm>
          <a:prstGeom prst="rect">
            <a:avLst/>
          </a:prstGeom>
          <a:solidFill>
            <a:srgbClr val="17384F"/>
          </a:solidFill>
          <a:ln w="12700">
            <a:solidFill>
              <a:srgbClr val="2C5470"/>
            </a:solidFill>
            <a:prstDash val="solid"/>
          </a:ln>
        </p:spPr>
      </p:sp>
      <p:sp>
        <p:nvSpPr>
          <p:cNvPr id="13" name="Shape 11"/>
          <p:cNvSpPr/>
          <p:nvPr/>
        </p:nvSpPr>
        <p:spPr>
          <a:xfrm>
            <a:off x="457200" y="2606040"/>
            <a:ext cx="54864" cy="1005840"/>
          </a:xfrm>
          <a:prstGeom prst="rect">
            <a:avLst/>
          </a:prstGeom>
          <a:solidFill>
            <a:srgbClr val="F2A93B"/>
          </a:solidFill>
          <a:ln/>
        </p:spPr>
      </p:sp>
      <p:sp>
        <p:nvSpPr>
          <p:cNvPr id="14" name="Text 12"/>
          <p:cNvSpPr/>
          <p:nvPr/>
        </p:nvSpPr>
        <p:spPr>
          <a:xfrm>
            <a:off x="685800" y="2715768"/>
            <a:ext cx="3657600" cy="320040"/>
          </a:xfrm>
          <a:prstGeom prst="rect">
            <a:avLst/>
          </a:prstGeom>
          <a:noFill/>
          <a:ln/>
        </p:spPr>
        <p:txBody>
          <a:bodyPr wrap="square" lIns="0" tIns="0" rIns="0" bIns="0" rtlCol="0" anchor="ctr"/>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Security</a:t>
            </a:r>
            <a:endParaRPr lang="en-US" sz="1500" dirty="0"/>
          </a:p>
        </p:txBody>
      </p:sp>
      <p:sp>
        <p:nvSpPr>
          <p:cNvPr id="15" name="Text 13"/>
          <p:cNvSpPr/>
          <p:nvPr/>
        </p:nvSpPr>
        <p:spPr>
          <a:xfrm>
            <a:off x="685800" y="3063240"/>
            <a:ext cx="3657600" cy="457200"/>
          </a:xfrm>
          <a:prstGeom prst="rect">
            <a:avLst/>
          </a:prstGeom>
          <a:noFill/>
          <a:ln/>
        </p:spPr>
        <p:txBody>
          <a:bodyPr wrap="square" lIns="0" tIns="0" rIns="0" bIns="0" rtlCol="0" anchor="t"/>
          <a:lstStyle/>
          <a:p>
            <a:pPr indent="0" marL="0">
              <a:buNone/>
            </a:pPr>
            <a:r>
              <a:rPr lang="en-US" sz="1200" dirty="0">
                <a:solidFill>
                  <a:srgbClr val="C6D4DE"/>
                </a:solidFill>
                <a:latin typeface="Segoe UI" pitchFamily="34" charset="0"/>
                <a:ea typeface="Segoe UI" pitchFamily="34" charset="-122"/>
                <a:cs typeface="Segoe UI" pitchFamily="34" charset="-120"/>
              </a:rPr>
              <a:t>Defender threat detection and Purview data protection</a:t>
            </a:r>
            <a:endParaRPr lang="en-US" sz="1200" dirty="0"/>
          </a:p>
        </p:txBody>
      </p:sp>
      <p:sp>
        <p:nvSpPr>
          <p:cNvPr id="16" name="Shape 14"/>
          <p:cNvSpPr/>
          <p:nvPr/>
        </p:nvSpPr>
        <p:spPr>
          <a:xfrm>
            <a:off x="4663440" y="2606040"/>
            <a:ext cx="4023360" cy="1005840"/>
          </a:xfrm>
          <a:prstGeom prst="rect">
            <a:avLst/>
          </a:prstGeom>
          <a:solidFill>
            <a:srgbClr val="17384F"/>
          </a:solidFill>
          <a:ln w="12700">
            <a:solidFill>
              <a:srgbClr val="2C5470"/>
            </a:solidFill>
            <a:prstDash val="solid"/>
          </a:ln>
        </p:spPr>
      </p:sp>
      <p:sp>
        <p:nvSpPr>
          <p:cNvPr id="17" name="Shape 15"/>
          <p:cNvSpPr/>
          <p:nvPr/>
        </p:nvSpPr>
        <p:spPr>
          <a:xfrm>
            <a:off x="4663440" y="2606040"/>
            <a:ext cx="54864" cy="1005840"/>
          </a:xfrm>
          <a:prstGeom prst="rect">
            <a:avLst/>
          </a:prstGeom>
          <a:solidFill>
            <a:srgbClr val="F2A93B"/>
          </a:solidFill>
          <a:ln/>
        </p:spPr>
      </p:sp>
      <p:sp>
        <p:nvSpPr>
          <p:cNvPr id="18" name="Text 16"/>
          <p:cNvSpPr/>
          <p:nvPr/>
        </p:nvSpPr>
        <p:spPr>
          <a:xfrm>
            <a:off x="4892040" y="2715768"/>
            <a:ext cx="3657600" cy="320040"/>
          </a:xfrm>
          <a:prstGeom prst="rect">
            <a:avLst/>
          </a:prstGeom>
          <a:noFill/>
          <a:ln/>
        </p:spPr>
        <p:txBody>
          <a:bodyPr wrap="square" lIns="0" tIns="0" rIns="0" bIns="0" rtlCol="0" anchor="ctr"/>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Lifecycle</a:t>
            </a:r>
            <a:endParaRPr lang="en-US" sz="1500" dirty="0"/>
          </a:p>
        </p:txBody>
      </p:sp>
      <p:sp>
        <p:nvSpPr>
          <p:cNvPr id="19" name="Text 17"/>
          <p:cNvSpPr/>
          <p:nvPr/>
        </p:nvSpPr>
        <p:spPr>
          <a:xfrm>
            <a:off x="4892040" y="3063240"/>
            <a:ext cx="3657600" cy="457200"/>
          </a:xfrm>
          <a:prstGeom prst="rect">
            <a:avLst/>
          </a:prstGeom>
          <a:noFill/>
          <a:ln/>
        </p:spPr>
        <p:txBody>
          <a:bodyPr wrap="square" lIns="0" tIns="0" rIns="0" bIns="0" rtlCol="0" anchor="t"/>
          <a:lstStyle/>
          <a:p>
            <a:pPr indent="0" marL="0">
              <a:buNone/>
            </a:pPr>
            <a:r>
              <a:rPr lang="en-US" sz="1200" dirty="0">
                <a:solidFill>
                  <a:srgbClr val="C6D4DE"/>
                </a:solidFill>
                <a:latin typeface="Segoe UI" pitchFamily="34" charset="0"/>
                <a:ea typeface="Segoe UI" pitchFamily="34" charset="-122"/>
                <a:cs typeface="Segoe UI" pitchFamily="34" charset="-120"/>
              </a:rPr>
              <a:t>Block, reassign or delete from the Microsoft 365 admin center</a:t>
            </a:r>
            <a:endParaRPr lang="en-US" sz="1200" dirty="0"/>
          </a:p>
        </p:txBody>
      </p:sp>
      <p:sp>
        <p:nvSpPr>
          <p:cNvPr id="20" name="Text 18"/>
          <p:cNvSpPr/>
          <p:nvPr/>
        </p:nvSpPr>
        <p:spPr>
          <a:xfrm>
            <a:off x="457200" y="3931920"/>
            <a:ext cx="8229600" cy="365760"/>
          </a:xfrm>
          <a:prstGeom prst="rect">
            <a:avLst/>
          </a:prstGeom>
          <a:noFill/>
          <a:ln/>
        </p:spPr>
        <p:txBody>
          <a:bodyPr wrap="square" lIns="0" tIns="0" rIns="0" bIns="0" rtlCol="0" anchor="ctr"/>
          <a:lstStyle/>
          <a:p>
            <a:pPr indent="0" marL="0">
              <a:buNone/>
            </a:pPr>
            <a:r>
              <a:rPr lang="en-US" sz="1500" dirty="0">
                <a:solidFill>
                  <a:srgbClr val="F2A93B"/>
                </a:solidFill>
                <a:latin typeface="Segoe UI Semibold" pitchFamily="34" charset="0"/>
                <a:ea typeface="Segoe UI Semibold" pitchFamily="34" charset="-122"/>
                <a:cs typeface="Segoe UI Semibold" pitchFamily="34" charset="-120"/>
              </a:rPr>
              <a:t>We built identity first, so the Documentation Agent is ready to be governed.</a:t>
            </a:r>
            <a:endParaRPr lang="en-US" sz="1500" dirty="0"/>
          </a:p>
        </p:txBody>
      </p:sp>
      <p:sp>
        <p:nvSpPr>
          <p:cNvPr id="21" name="Text 19"/>
          <p:cNvSpPr/>
          <p:nvPr/>
        </p:nvSpPr>
        <p:spPr>
          <a:xfrm>
            <a:off x="457200" y="4389120"/>
            <a:ext cx="8229600" cy="320040"/>
          </a:xfrm>
          <a:prstGeom prst="rect">
            <a:avLst/>
          </a:prstGeom>
          <a:noFill/>
          <a:ln/>
        </p:spPr>
        <p:txBody>
          <a:bodyPr wrap="square" lIns="0" tIns="0" rIns="0" bIns="0" rtlCol="0" anchor="ctr"/>
          <a:lstStyle/>
          <a:p>
            <a:pPr indent="0" marL="0">
              <a:buNone/>
            </a:pPr>
            <a:r>
              <a:rPr lang="en-US" sz="1100" dirty="0">
                <a:solidFill>
                  <a:srgbClr val="C6D4DE"/>
                </a:solidFill>
                <a:latin typeface="Segoe UI" pitchFamily="34" charset="0"/>
                <a:ea typeface="Segoe UI" pitchFamily="34" charset="-122"/>
                <a:cs typeface="Segoe UI" pitchFamily="34" charset="-120"/>
              </a:rPr>
              <a:t>Needs a Microsoft 365 Copilot licence and Frontier enrolment. Agent data moves to Entra-tenant residency.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 · Knowledge, tools &amp; identity</dc:title>
  <dc:subject>PptxGenJS Presentation</dc:subject>
  <dc:creator>Rickard Widholm</dc:creator>
  <cp:lastModifiedBy>Rickard Widholm</cp:lastModifiedBy>
  <cp:revision>1</cp:revision>
  <dcterms:created xsi:type="dcterms:W3CDTF">2026-10-21T08:41:36Z</dcterms:created>
  <dcterms:modified xsi:type="dcterms:W3CDTF">2026-10-21T08:41:36Z</dcterms:modified>
</cp:coreProperties>
</file>